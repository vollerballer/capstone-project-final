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1A2547"/>
                </a:solidFill>
                <a:latin typeface="Arial"/>
              </a:defRPr>
            </a:pPr>
            <a:r>
              <a:rPr sz="1100" b="0" i="0" u="none" strike="noStrike">
                <a:solidFill>
                  <a:srgbClr val="1A2547"/>
                </a:solidFill>
                <a:latin typeface="Arial"/>
              </a:rPr>
              <a:t>U.S. Imports from Canada — Total Study Period ($B)</a:t>
            </a:r>
          </a:p>
        </c:rich>
      </c:tx>
      <c:layout/>
      <c:overlay val="0"/>
    </c:title>
    <c:autoTitleDeleted val="0"/>
    <c:plotArea>
      <c:layout/>
      <c:barChart>
        <c:barDir val="col"/>
        <c:grouping val="clustered"/>
        <c:varyColors val="0"/>
        <c:ser>
          <c:idx val="0"/>
          <c:order val="0"/>
          <c:tx>
            <c:strRef>
              <c:f>Sheet1!$B$1</c:f>
              <c:strCache>
                <c:ptCount val="1"/>
                <c:pt idx="0">
                  <c:v>Total Value ($ Billions)</c:v>
                </c:pt>
              </c:strCache>
            </c:strRef>
          </c:tx>
          <c:spPr>
            <a:solidFill>
              <a:srgbClr val="1E2761"/>
            </a:solidFill>
            <a:effectLst/>
          </c:spPr>
          <c:invertIfNegative val="0"/>
          <c:dLbls>
            <c:numFmt formatCode="#,##0" sourceLinked="0"/>
            <c:txPr>
              <a:bodyPr/>
              <a:lstStyle/>
              <a:p>
                <a:pPr>
                  <a:defRPr b="0" i="0" strike="noStrike" sz="1000" u="none">
                    <a:solidFill>
                      <a:srgbClr val="1A2547"/>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065A82"/>
              </a:solidFill>
              <a:effectLst/>
            </c:spPr>
          </c:dPt>
          <c:dPt>
            <c:idx val="2"/>
            <c:invertIfNegative val="0"/>
            <c:bubble3D val="0"/>
            <c:spPr>
              <a:solidFill>
                <a:srgbClr val="2E86AB"/>
              </a:solidFill>
              <a:effectLst/>
            </c:spPr>
          </c:dPt>
          <c:cat>
            <c:multiLvlStrRef>
              <c:f>Sheet1!$A$2:$A$4</c:f>
              <c:multiLvlStrCache>
                <c:ptCount val="3"/>
                <c:lvl>
                  <c:pt idx="0">
                    <c:v>Steel</c:v>
                  </c:pt>
                  <c:pt idx="1">
                    <c:v>Aluminum</c:v>
                  </c:pt>
                  <c:pt idx="2">
                    <c:v>Automobiles</c:v>
                  </c:pt>
                </c:lvl>
              </c:multiLvlStrCache>
            </c:multiLvlStrRef>
          </c:cat>
          <c:val>
            <c:numRef>
              <c:f>Sheet1!$B$2:$B$4</c:f>
              <c:numCache>
                <c:formatCode>General</c:formatCode>
                <c:ptCount val="3"/>
                <c:pt idx="0">
                  <c:v>3.19</c:v>
                </c:pt>
                <c:pt idx="1">
                  <c:v>61.2</c:v>
                </c:pt>
                <c:pt idx="2">
                  <c:v>476.21</c:v>
                </c:pt>
              </c:numCache>
            </c:numRef>
          </c:val>
        </c:ser>
        <c:dLbls>
          <c:numFmt formatCode="#,##0" sourceLinked="0"/>
          <c:txPr>
            <a:bodyPr/>
            <a:lstStyle/>
            <a:p>
              <a:pPr>
                <a:defRPr b="0" i="0" strike="noStrike" sz="1000" u="none">
                  <a:solidFill>
                    <a:srgbClr val="1A25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A8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1A2547"/>
                </a:solidFill>
                <a:latin typeface="Arial"/>
              </a:defRPr>
            </a:pPr>
            <a:r>
              <a:rPr sz="1100" b="0" i="0" u="none" strike="noStrike">
                <a:solidFill>
                  <a:srgbClr val="1A2547"/>
                </a:solidFill>
                <a:latin typeface="Arial"/>
              </a:rPr>
              <a:t>Median Monthly Export Value — Tariff On vs. Off ($B)</a:t>
            </a:r>
          </a:p>
        </c:rich>
      </c:tx>
      <c:layout/>
      <c:overlay val="0"/>
    </c:title>
    <c:autoTitleDeleted val="0"/>
    <c:plotArea>
      <c:layout/>
      <c:barChart>
        <c:barDir val="col"/>
        <c:grouping val="clustered"/>
        <c:varyColors val="0"/>
        <c:ser>
          <c:idx val="0"/>
          <c:order val="0"/>
          <c:tx>
            <c:strRef>
              <c:f>Sheet1!$B$1</c:f>
              <c:strCache>
                <c:ptCount val="1"/>
                <c:pt idx="0">
                  <c:v>Tariff Off ($B)</c:v>
                </c:pt>
              </c:strCache>
            </c:strRef>
          </c:tx>
          <c:spPr>
            <a:solidFill>
              <a:srgbClr val="2E86AB"/>
            </a:solidFill>
            <a:effectLst/>
          </c:spPr>
          <c:invertIfNegative val="0"/>
          <c:dLbls>
            <c:numFmt formatCode="#,##0" sourceLinked="0"/>
            <c:txPr>
              <a:bodyPr/>
              <a:lstStyle/>
              <a:p>
                <a:pPr>
                  <a:defRPr b="0" i="0" strike="noStrike" sz="900" u="none">
                    <a:solidFill>
                      <a:srgbClr val="1A2547"/>
                    </a:solidFill>
                    <a:latin typeface="Arial"/>
                  </a:defRPr>
                </a:pPr>
              </a:p>
            </c:txPr>
            <c:showLegendKey val="0"/>
            <c:showVal val="1"/>
            <c:showCatName val="0"/>
            <c:showSerName val="0"/>
            <c:showPercent val="0"/>
            <c:showBubbleSize val="0"/>
            <c:showLeaderLines val="0"/>
          </c:dLbls>
          <c:cat>
            <c:multiLvlStrRef>
              <c:f>Sheet1!$A$2:$A$4</c:f>
              <c:multiLvlStrCache>
                <c:ptCount val="3"/>
                <c:lvl>
                  <c:pt idx="0">
                    <c:v>Steel</c:v>
                  </c:pt>
                  <c:pt idx="1">
                    <c:v>Aluminum</c:v>
                  </c:pt>
                  <c:pt idx="2">
                    <c:v>Automobiles</c:v>
                  </c:pt>
                </c:lvl>
              </c:multiLvlStrCache>
            </c:multiLvlStrRef>
          </c:cat>
          <c:val>
            <c:numRef>
              <c:f>Sheet1!$B$2:$B$4</c:f>
              <c:numCache>
                <c:formatCode>General</c:formatCode>
                <c:ptCount val="3"/>
                <c:pt idx="0">
                  <c:v>0.0239</c:v>
                </c:pt>
                <c:pt idx="1">
                  <c:v>0.537</c:v>
                </c:pt>
                <c:pt idx="2">
                  <c:v>2.93</c:v>
                </c:pt>
              </c:numCache>
            </c:numRef>
          </c:val>
        </c:ser>
        <c:ser>
          <c:idx val="1"/>
          <c:order val="1"/>
          <c:tx>
            <c:strRef>
              <c:f>Sheet1!$C$1</c:f>
              <c:strCache>
                <c:ptCount val="1"/>
                <c:pt idx="0">
                  <c:v>Tariff On ($B)</c:v>
                </c:pt>
              </c:strCache>
            </c:strRef>
          </c:tx>
          <c:spPr>
            <a:solidFill>
              <a:srgbClr val="C0392B"/>
            </a:solidFill>
            <a:effectLst/>
          </c:spPr>
          <c:invertIfNegative val="0"/>
          <c:dLbls>
            <c:numFmt formatCode="#,##0" sourceLinked="0"/>
            <c:txPr>
              <a:bodyPr/>
              <a:lstStyle/>
              <a:p>
                <a:pPr>
                  <a:defRPr b="0" i="0" strike="noStrike" sz="900" u="none">
                    <a:solidFill>
                      <a:srgbClr val="1A2547"/>
                    </a:solidFill>
                    <a:latin typeface="Arial"/>
                  </a:defRPr>
                </a:pPr>
              </a:p>
            </c:txPr>
            <c:showLegendKey val="0"/>
            <c:showVal val="1"/>
            <c:showCatName val="0"/>
            <c:showSerName val="0"/>
            <c:showPercent val="0"/>
            <c:showBubbleSize val="0"/>
            <c:showLeaderLines val="0"/>
          </c:dLbls>
          <c:cat>
            <c:multiLvlStrRef>
              <c:f>Sheet1!$A$2:$A$4</c:f>
              <c:multiLvlStrCache>
                <c:ptCount val="3"/>
                <c:lvl>
                  <c:pt idx="0">
                    <c:v>Steel</c:v>
                  </c:pt>
                  <c:pt idx="1">
                    <c:v>Aluminum</c:v>
                  </c:pt>
                  <c:pt idx="2">
                    <c:v>Automobiles</c:v>
                  </c:pt>
                </c:lvl>
              </c:multiLvlStrCache>
            </c:multiLvlStrRef>
          </c:cat>
          <c:val>
            <c:numRef>
              <c:f>Sheet1!$C$2:$C$4</c:f>
              <c:numCache>
                <c:formatCode>General</c:formatCode>
                <c:ptCount val="3"/>
                <c:pt idx="0">
                  <c:v>0.017</c:v>
                </c:pt>
                <c:pt idx="1">
                  <c:v>0.475</c:v>
                </c:pt>
                <c:pt idx="2">
                  <c:v>2.18</c:v>
                </c:pt>
              </c:numCache>
            </c:numRef>
          </c:val>
        </c:ser>
        <c:dLbls>
          <c:numFmt formatCode="#,##0" sourceLinked="0"/>
          <c:txPr>
            <a:bodyPr/>
            <a:lstStyle/>
            <a:p>
              <a:pPr>
                <a:defRPr b="0" i="0" strike="noStrike" sz="900" u="none">
                  <a:solidFill>
                    <a:srgbClr val="1A25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A8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1A2547"/>
                </a:solidFill>
                <a:latin typeface="Arial"/>
              </a:defRPr>
            </a:pPr>
            <a:r>
              <a:rPr sz="1000" b="0" i="0" u="none" strike="noStrike">
                <a:solidFill>
                  <a:srgbClr val="1A2547"/>
                </a:solidFill>
                <a:latin typeface="Arial"/>
              </a:rPr>
              <a:t>Canadian Automotive Exports to U.S. — Forecast ($B/month)</a:t>
            </a:r>
          </a:p>
        </c:rich>
      </c:tx>
      <c:layout/>
      <c:overlay val="0"/>
    </c:title>
    <c:autoTitleDeleted val="0"/>
    <c:plotArea>
      <c:layout/>
      <c:lineChart>
        <c:varyColors val="0"/>
        <c:ser>
          <c:idx val="0"/>
          <c:order val="0"/>
          <c:tx>
            <c:strRef>
              <c:f>Sheet1!$B$1</c:f>
              <c:strCache>
                <c:ptCount val="1"/>
                <c:pt idx="0">
                  <c:v>Scenario 2: Tariffs Removed ($B)</c:v>
                </c:pt>
              </c:strCache>
            </c:strRef>
          </c:tx>
          <c:spPr>
            <a:solidFill>
              <a:srgbClr val="2E86AB"/>
            </a:solidFill>
            <a:ln w="31750" cap="flat">
              <a:solidFill>
                <a:srgbClr val="2E86A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AB"/>
              </a:solidFill>
              <a:ln w="9525" cap="flat">
                <a:solidFill>
                  <a:srgbClr val="2E86AB"/>
                </a:solidFill>
                <a:prstDash val="solid"/>
                <a:round/>
              </a:ln>
              <a:effectLst/>
            </c:spPr>
          </c:marker>
          <c:cat>
            <c:multiLvlStrRef>
              <c:f>Sheet1!$A$2:$A$10</c:f>
              <c:multiLvlStrCache>
                <c:ptCount val="9"/>
                <c:lvl>
                  <c:pt idx="0">
                    <c:v>Jan 2026</c:v>
                  </c:pt>
                  <c:pt idx="1">
                    <c:v>Apr 2026</c:v>
                  </c:pt>
                  <c:pt idx="2">
                    <c:v>Jul 2026</c:v>
                  </c:pt>
                  <c:pt idx="3">
                    <c:v>Oct 2026</c:v>
                  </c:pt>
                  <c:pt idx="4">
                    <c:v>Jan 2027</c:v>
                  </c:pt>
                  <c:pt idx="5">
                    <c:v>Apr 2027</c:v>
                  </c:pt>
                  <c:pt idx="6">
                    <c:v>Jul 2027</c:v>
                  </c:pt>
                  <c:pt idx="7">
                    <c:v>Oct 2027</c:v>
                  </c:pt>
                  <c:pt idx="8">
                    <c:v>Jan 2028</c:v>
                  </c:pt>
                </c:lvl>
              </c:multiLvlStrCache>
            </c:multiLvlStrRef>
          </c:cat>
          <c:val>
            <c:numRef>
              <c:f>Sheet1!$B$2:$B$10</c:f>
              <c:numCache>
                <c:formatCode>General</c:formatCode>
                <c:ptCount val="9"/>
                <c:pt idx="0">
                  <c:v>2.54</c:v>
                </c:pt>
                <c:pt idx="1">
                  <c:v>2.49</c:v>
                </c:pt>
                <c:pt idx="2">
                  <c:v>2.46</c:v>
                </c:pt>
                <c:pt idx="3">
                  <c:v>2.44</c:v>
                </c:pt>
                <c:pt idx="4">
                  <c:v>2.42</c:v>
                </c:pt>
                <c:pt idx="5">
                  <c:v>2.4</c:v>
                </c:pt>
                <c:pt idx="6">
                  <c:v>2.38</c:v>
                </c:pt>
                <c:pt idx="7">
                  <c:v>2.36</c:v>
                </c:pt>
                <c:pt idx="8">
                  <c:v>2.34</c:v>
                </c:pt>
              </c:numCache>
            </c:numRef>
          </c:val>
          <c:smooth val="0"/>
        </c:ser>
        <c:ser>
          <c:idx val="1"/>
          <c:order val="1"/>
          <c:tx>
            <c:strRef>
              <c:f>Sheet1!$C$1</c:f>
              <c:strCache>
                <c:ptCount val="1"/>
                <c:pt idx="0">
                  <c:v>Scenario 1: Tariffs Remain ($B)</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Sheet1!$A$2:$A$10</c:f>
              <c:multiLvlStrCache>
                <c:ptCount val="9"/>
                <c:lvl>
                  <c:pt idx="0">
                    <c:v>Jan 2026</c:v>
                  </c:pt>
                  <c:pt idx="1">
                    <c:v>Apr 2026</c:v>
                  </c:pt>
                  <c:pt idx="2">
                    <c:v>Jul 2026</c:v>
                  </c:pt>
                  <c:pt idx="3">
                    <c:v>Oct 2026</c:v>
                  </c:pt>
                  <c:pt idx="4">
                    <c:v>Jan 2027</c:v>
                  </c:pt>
                  <c:pt idx="5">
                    <c:v>Apr 2027</c:v>
                  </c:pt>
                  <c:pt idx="6">
                    <c:v>Jul 2027</c:v>
                  </c:pt>
                  <c:pt idx="7">
                    <c:v>Oct 2027</c:v>
                  </c:pt>
                  <c:pt idx="8">
                    <c:v>Jan 2028</c:v>
                  </c:pt>
                </c:lvl>
              </c:multiLvlStrCache>
            </c:multiLvlStrRef>
          </c:cat>
          <c:val>
            <c:numRef>
              <c:f>Sheet1!$C$2:$C$10</c:f>
              <c:numCache>
                <c:formatCode>General</c:formatCode>
                <c:ptCount val="9"/>
                <c:pt idx="0">
                  <c:v>1.8</c:v>
                </c:pt>
                <c:pt idx="1">
                  <c:v>1.76</c:v>
                </c:pt>
                <c:pt idx="2">
                  <c:v>1.73</c:v>
                </c:pt>
                <c:pt idx="3">
                  <c:v>1.71</c:v>
                </c:pt>
                <c:pt idx="4">
                  <c:v>1.68</c:v>
                </c:pt>
                <c:pt idx="5">
                  <c:v>1.66</c:v>
                </c:pt>
                <c:pt idx="6">
                  <c:v>1.63</c:v>
                </c:pt>
                <c:pt idx="7">
                  <c:v>1.61</c:v>
                </c:pt>
                <c:pt idx="8">
                  <c:v>1.59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8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your time today. This presentation summarizes the findings of my MIS581 Capstone Project, which examined whether two episodes of U.S.-Canada tariff escalation — the 2018–2019 Section 232 tariffs on steel and aluminum, and the 2025 tariff wave — produced statistically detectable changes in bilateral trade flows. The analysis covered steel, aluminum, and automobile sectors using 15 HS6-level product codes, monthly trade data from the U.S. International Trade Commission, and annual import data from Statistics Canada, spanning January 2012 through January 2026. Over the next several minutes I will walk you through the research questions, the analytical methods, the key findings, and the practical recommendations that emerge from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this analysis is important, it helps to start with the scale of the relationship. Canada's exports to the United States are not a small portion of its economy — they account for roughly three-quarters of total Canadian merchandise exports and about one-quarter of GDP. This means that when the United States imposes tariffs or escalates trade conflict, the effects reach into virtually every corner of the Canadian economy. For upper management in affected industries, this is not an abstract policy debate — it shows up directly in sourcing costs, export revenues, and supply chain reliability.
The analysis is organized around two distinct tariff episodes. The first ran from March 2018 through April 2019, when the United States applied Section 232 tariffs to Canadian steel and aluminum and Canada responded with C$16.6 billion in retaliatory countermeasures. The second began in March 2025 and, while some measures were lifted on September 1, 2025, duties on steel, aluminum, and automobiles remained in place and continue as of the time of this study.
The central question I set out to answer was whether we could detect statistically meaningful differences in trade volumes between tariff-active and non-tariff periods — or whether the signal was too weak relative to all the other forces that move trade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is organized around three research questions, each tested across all three sector groups — steel, aluminum, and automobiles.
Research Question 1 asks whether Canada's imports from the United States declined during tariff-active periods. This tests the most direct effect: did Canada buy less from U.S. suppliers when counter-tariffs were in place?
Research Question 2 asks whether Canada increased imports from non-U.S. countries during those same periods. This tests for trade diversion — the idea that when U.S. goods become more expensive due to tariffs, buyers shift sourcing to alternative suppliers rather than simply buying less overall.
Research Question 3 asks whether Canada's exports to the United States declined during tariff periods. This looks at the other side of the relationship — did U.S. tariffs on Canadian products reduce the volume of Canadian goods flowing into the U.S. market?
Each question has a null hypothesis stating no difference exists and an alternative hypothesis stating the directional change we expect to observe if tariffs had an effect. All three were tested using both Mann-Whitney U tests and ordinary least squares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draws on three datasets. U.S. exports to Canada came from the USITC DataWeb at monthly frequency. Canada's imports by source country came from Statistics Canada Trade Data Online — with annual data covering the full study period and monthly data available only for the most recent 24 months. U.S. imports from Canada, also from USITC DataWeb, served as a proxy for Canada's export activity. All values are reported in U.S. dollars.
The 15 HS6 product codes were grouped into three sector clusters. Steel includes five codes covering flat-rolled steel and bars and rods. Aluminum includes five codes covering unwrought aluminum, profiles, sheet, and foil. Automobiles includes five codes covering passenger vehicles, light-duty trucks, transmission systems, and motor vehicle parts.
Four analytical methods were applied in sequence. Descriptive statistics were calculated first to understand the size, spread, and volatility of trade flows. Mann-Whitney U tests were used to compare distributions between tariff-on and tariff-off periods without requiring normally distributed data, which is important given that monthly trade data tends to be right-skewed. OLS regression estimated the magnitude of the tariff-period association while controlling for sector differences. Finally, a two-scenario predictive forecast was built on a linear trend from the pre-tariff baseline period, projecting 24 months forward under a tariffs-remain and a tariffs-removed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statistics were the first step in the analysis, and they reveal three important patterns before any hypothesis testing begins.
First, the automotive sector dominates this analysis by a very wide margin. U.S. imports from Canada totaled approximately $476 billion for automobiles during the study period, compared with $61 billion for aluminum and $3.2 billion for steel. This means that any tariff effect on automotive trade will carry the most economic weight, and that finding is consistently confirmed in the hypothesis tests that follow.
Second, the monthly trade data is not normally distributed. All three sectors show right-skewed distributions with occasional large spikes and wide gaps between minimum and maximum values. This is exactly the pattern that makes the Mann-Whitney U test more appropriate than a standard t-test — it does not require normality and is better suited for detecting distributional shifts in skewed data.
Third, the annual source-group trend charts for Canadian imports show a notable pattern in steel and aluminum, where non-U.S. imports began to exceed U.S. imports in the later years of the study period. This is a descriptive observation that does not establish causation on its own, but it is consistent with the trade diversion hypothesis that Research Question 2 examines more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1 tested whether Canada's imports from the United States declined during tariff-active periods. The results were sector-specific rather than uniform.
For steel, the result was statistically significant under both methods. The Mann-Whitney U test produced a p-value below 0.001, and the OLS regression estimated a tariff-period beta of negative $1.64 million per month, also significant at p below 0.001. Monthly values clustered around $1.28 million during tariff-active periods compared with $2.92 million during non-tariff periods. The null hypothesis was rejected for steel.
For aluminum and automobiles, the story is different. Aluminum actually showed higher values during tariff periods — the Mann-Whitney p-value was 1.000, indicating no downward shift, and the OLS beta was positive. For automobiles, the regression produced a positive but insignificant beta and a Mann-Whitney p-value of 0.771. Neither sector allowed rejection of the null hypothesis.
This is an important nuance for management. Counter-tariff actions did not produce a uniform pullback in U.S. exports across all sectors. Steel appears to have been meaningfully affected, but aluminum and automobile trade continued — possibly because those supply chains are too deeply integrated to easily redirect, or because other factors offset any tariff-driven demand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2 examined whether Canada shifted sourcing toward non-U.S. suppliers during tariff periods — the classic trade diversion pattern. This is the weakest research question from a statistical power standpoint, and I want to be transparent about why.
Statistics Canada's import data by source country is only available at annual frequency for the full study period. That leaves only three tariff-on observations and eleven tariff-off observations per sector. No regression model produces strong explanatory power with only 14 data points, regardless of what variables are included. The low R-squared values throughout RQ2 are a data granularity issue, not a model selection issue.
For steel, neither test detected a meaningful shift. The Mann-Whitney p-value was 0.442 and the OLS R-squared was essentially zero. For aluminum, results were directionally positive — a beta of approximately $241 million per year — but fell short of statistical significance. Monthly data would likely tell a more complete story here.
For automobiles, both tests showed a significant result. The Mann-Whitney p-value was 0.030 and the OLS beta was approximately $2 billion per year, significant at p equals 0.048 with an R-squared of 0.288. This is the strongest finding in RQ2 and suggests that automotive supply chains were responding to tariff pressure by shifting sourcing away from U.S. suppliers.
The null hypothesis was rejected for automobiles only, and the data constraints in RQ2 remain the most important caveat of the entire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3 is the most consistent and compelling finding in the study. All three null hypotheses were rejected — for steel, aluminum, and automobiles — making this the only research question that produced significant results across every sector.
For steel, the Mann-Whitney U test produced a p-value of 0.004, and the OLS regression estimated a tariff-period beta of negative $6.86 million per month. Monthly values clustered around $17 million during tariff-on periods versus $23.9 million during tariff-off periods.
For aluminum, the Mann-Whitney p-value was 0.046, indicating a statistically significant downward shift in the distribution. However, the OLS regression beta of negative $61.91 million per month did not reach significance at p equals 0.076. The mixed signals between the two methods, combined with a low R-squared, suggest the aluminum finding is present but not as cleanly defined as steel.
For automobiles, both methods produced strong, consistent results. The Mann-Whitney p-value was below 0.001, and the OLS beta was negative $745.73 million per month, also significant below 0.001. Monthly export values averaged approximately $2.18 billion during tariff-active periods compared with $2.93 billion during non-tariff periods — a difference of roughly $745 million per month. Given the scale of the automotive sector in cross-border trade between the two countries, this is the most economically significant finding of the entire study.
The consistency of the directional finding across all three sectors in RQ3 suggests that tariff escalation was broadly associated with a weakening of Canada's export position in these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complement the hypothesis testing, I developed a two-scenario predictive forecast projecting trade volumes 24 months forward from January 2026. The forecast is built on a linear trend fitted to the pre-tariff baseline period of January 2012 through February 2018, capturing the historical trajectory before either tariff episode began.
Scenario 1 assumes current tariffs remain in place and applies the OLS beta from RQ3 as a downward adjustment to the baseline trend. Scenario 2 assumes tariffs are removed and projects the baseline forward without a tariff adjustment. The gap between the two scenarios represents the estimated cost of continued tariff activity in each sector.
For automobiles — the most important sector by scale — the projected gap is approximately $745 million per month for the full two-year forecast horizon. Under the tariffs-remain scenario, monthly automotive export values are projected to decline from approximately $1.80 billion in early 2026 to about $1.59 billion by early 2028. Under tariffs-removed, values start at approximately $2.54 billion and decline slightly to $2.34 billion, reflecting the downward historical trend in the baseline.
For aluminum, the projected gap is approximately $61.9 million per month, though I want to flag that the RQ3 OLS beta for aluminum did not reach statistical significance, so this projection should be interpreted with more caution. For steel, the gap is approximately $6.9 million per month, consistent with the RQ1 and RQ3 findings.
I want to be clear that these are structured, data-driven illustrations of two scenarios — not predictions. They give decision makers a concrete dollar-range sense of what continued tariff activity could mean for trade in these sectors over the next two years, grounded in the actual historical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this together with the key conclusions and practical recommendations.
For Research Question 1, the null hypothesis was rejected for steel only. Canada's counter-tariff actions were associated with a significant decline in U.S. steel exports to Canada, but aluminum and automobile exports did not show the same response, suggesting sector-specific supply chain dynamics.
For Research Question 2, the null hypothesis was rejected for automobiles only — providing evidence of trade diversion in the auto sector, with the caveat that data limitations prevented stronger conclusions for steel and aluminum.
For Research Question 3 — the most consistent result — the null hypothesis was rejected across all three sectors. Canadian exports to the United States tended to be lower during tariff-active periods, with the automotive sector showing the largest absolute impact at approximately $745 million per month.
For recommendations: First, automotive stakeholders should be paying close attention to Canada's export trajectory. The combination of RQ2 and RQ3 findings, plus the forecast, suggests structural pressure on automotive trade is real and persistent. Second, steel sector organizations should treat tariff risk as a standing operational reality, not an isolated event. Third, future researchers should pursue monthly Canadian import data by source country to dramatically improve the RQ2 analysis. Fourth, policymakers should weigh the sustained nature of these gaps — the forecast shows them persisting across the full two-year horizon.
I want to close by reiterating the important caveat that runs throughout this study. These results are evidence of association between tariff periods and trade outcomes — they are not proof that tariffs alone caused the observed changes. Exchange rates, inflation, supply chain disruptions, the COVID-19 pandemic, and broader macroeconomic conditions all played a role. This study provides a focused, transparent, and repeatable look at one important piece of a very complex trade relationship.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complete reference list for the capstone paper and presentation. All sources are from peer-reviewed journals, government databases, official statistical agencies, or reputable policy research organizations. The references comply with APA 7th edition format and were sourced through the CSU Global Library and publicly accessible government data portals. A total of nine references are listed here, meeting the requirement of six to ten credible sources specified for this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583680" y="-457200"/>
            <a:ext cx="3200400" cy="6035040"/>
          </a:xfrm>
          <a:prstGeom prst="rect">
            <a:avLst/>
          </a:prstGeom>
          <a:solidFill>
            <a:srgbClr val="065A82">
              <a:alpha val="40000"/>
            </a:srgbClr>
          </a:solidFill>
          <a:ln w="12700">
            <a:solidFill>
              <a:srgbClr val="065A82">
                <a:alpha val="40000"/>
              </a:srgbClr>
            </a:solidFill>
            <a:prstDash val="solid"/>
          </a:ln>
        </p:spPr>
      </p:sp>
      <p:sp>
        <p:nvSpPr>
          <p:cNvPr id="3" name="Shape 1"/>
          <p:cNvSpPr/>
          <p:nvPr/>
        </p:nvSpPr>
        <p:spPr>
          <a:xfrm>
            <a:off x="0" y="3840480"/>
            <a:ext cx="9144000" cy="1325880"/>
          </a:xfrm>
          <a:prstGeom prst="rect">
            <a:avLst/>
          </a:prstGeom>
          <a:solidFill>
            <a:srgbClr val="065A82"/>
          </a:solidFill>
          <a:ln w="12700">
            <a:solidFill>
              <a:srgbClr val="065A82"/>
            </a:solidFill>
            <a:prstDash val="solid"/>
          </a:ln>
        </p:spPr>
      </p:sp>
      <p:sp>
        <p:nvSpPr>
          <p:cNvPr id="4" name="Shape 2"/>
          <p:cNvSpPr/>
          <p:nvPr/>
        </p:nvSpPr>
        <p:spPr>
          <a:xfrm>
            <a:off x="0" y="3840480"/>
            <a:ext cx="9144000" cy="54864"/>
          </a:xfrm>
          <a:prstGeom prst="rect">
            <a:avLst/>
          </a:prstGeom>
          <a:solidFill>
            <a:srgbClr val="2E86AB"/>
          </a:solidFill>
          <a:ln w="12700">
            <a:solidFill>
              <a:srgbClr val="2E86AB"/>
            </a:solidFill>
            <a:prstDash val="solid"/>
          </a:ln>
        </p:spPr>
      </p:sp>
      <p:sp>
        <p:nvSpPr>
          <p:cNvPr id="5" name="Text 3"/>
          <p:cNvSpPr/>
          <p:nvPr/>
        </p:nvSpPr>
        <p:spPr>
          <a:xfrm>
            <a:off x="502920" y="594360"/>
            <a:ext cx="5943600" cy="18288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U.S.–Canada Tariff Impacts</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on Bilateral Trade Flows</a:t>
            </a:r>
            <a:endParaRPr lang="en-US" sz="3400" dirty="0"/>
          </a:p>
        </p:txBody>
      </p:sp>
      <p:sp>
        <p:nvSpPr>
          <p:cNvPr id="6" name="Text 4"/>
          <p:cNvSpPr/>
          <p:nvPr/>
        </p:nvSpPr>
        <p:spPr>
          <a:xfrm>
            <a:off x="502920" y="2468880"/>
            <a:ext cx="594360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Steel · Aluminum · Automobile Sectors | 2012–2026</a:t>
            </a:r>
            <a:endParaRPr lang="en-US" sz="1400" dirty="0"/>
          </a:p>
        </p:txBody>
      </p:sp>
      <p:sp>
        <p:nvSpPr>
          <p:cNvPr id="7" name="Shape 5"/>
          <p:cNvSpPr/>
          <p:nvPr/>
        </p:nvSpPr>
        <p:spPr>
          <a:xfrm>
            <a:off x="502920" y="2926080"/>
            <a:ext cx="2286000" cy="50292"/>
          </a:xfrm>
          <a:prstGeom prst="rect">
            <a:avLst/>
          </a:prstGeom>
          <a:solidFill>
            <a:srgbClr val="2E86AB"/>
          </a:solidFill>
          <a:ln w="12700">
            <a:solidFill>
              <a:srgbClr val="2E86AB"/>
            </a:solidFill>
            <a:prstDash val="solid"/>
          </a:ln>
        </p:spPr>
      </p:sp>
      <p:sp>
        <p:nvSpPr>
          <p:cNvPr id="8" name="Text 6"/>
          <p:cNvSpPr/>
          <p:nvPr/>
        </p:nvSpPr>
        <p:spPr>
          <a:xfrm>
            <a:off x="502920" y="3063240"/>
            <a:ext cx="5943600" cy="7772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Alexander Vollen</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MIS581: Principles of Machine Learning  |  CSU Global</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Steve Chung, Instructor  |  April 2, 2026</a:t>
            </a:r>
            <a:endParaRPr lang="en-US" sz="1200" dirty="0"/>
          </a:p>
        </p:txBody>
      </p:sp>
      <p:sp>
        <p:nvSpPr>
          <p:cNvPr id="9" name="Text 7"/>
          <p:cNvSpPr/>
          <p:nvPr/>
        </p:nvSpPr>
        <p:spPr>
          <a:xfrm>
            <a:off x="502920" y="3931920"/>
            <a:ext cx="82296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MIS581 Capstone Project Final Submission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65A82"/>
          </a:solidFill>
          <a:ln w="12700">
            <a:solidFill>
              <a:srgbClr val="065A82"/>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Context &amp; Problem Statement</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Why this analysis matters for upper management</a:t>
            </a:r>
            <a:endParaRPr lang="en-US" sz="1200" dirty="0"/>
          </a:p>
        </p:txBody>
      </p:sp>
      <p:sp>
        <p:nvSpPr>
          <p:cNvPr id="6" name="Shape 4"/>
          <p:cNvSpPr/>
          <p:nvPr/>
        </p:nvSpPr>
        <p:spPr>
          <a:xfrm>
            <a:off x="320040" y="1143000"/>
            <a:ext cx="5394960" cy="105156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320040" y="1143000"/>
            <a:ext cx="109728" cy="1051560"/>
          </a:xfrm>
          <a:prstGeom prst="rect">
            <a:avLst/>
          </a:prstGeom>
          <a:solidFill>
            <a:srgbClr val="065A82"/>
          </a:solidFill>
          <a:ln w="12700">
            <a:solidFill>
              <a:srgbClr val="065A82"/>
            </a:solidFill>
            <a:prstDash val="solid"/>
          </a:ln>
        </p:spPr>
      </p:sp>
      <p:sp>
        <p:nvSpPr>
          <p:cNvPr id="8" name="Text 6"/>
          <p:cNvSpPr/>
          <p:nvPr/>
        </p:nvSpPr>
        <p:spPr>
          <a:xfrm>
            <a:off x="530352" y="1216152"/>
            <a:ext cx="5029200" cy="256032"/>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Scale of Integration</a:t>
            </a:r>
            <a:endParaRPr lang="en-US" sz="1200" dirty="0"/>
          </a:p>
        </p:txBody>
      </p:sp>
      <p:sp>
        <p:nvSpPr>
          <p:cNvPr id="9" name="Text 7"/>
          <p:cNvSpPr/>
          <p:nvPr/>
        </p:nvSpPr>
        <p:spPr>
          <a:xfrm>
            <a:off x="530352" y="1463040"/>
            <a:ext cx="5029200" cy="658368"/>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Canada's merchandise exports to the U.S. represent ~75% of total exports and ~25% of Canadian GDP — making it uniquely exposed to U.S. policy shifts.</a:t>
            </a:r>
            <a:endParaRPr lang="en-US" sz="1000" dirty="0"/>
          </a:p>
        </p:txBody>
      </p:sp>
      <p:sp>
        <p:nvSpPr>
          <p:cNvPr id="10" name="Shape 8"/>
          <p:cNvSpPr/>
          <p:nvPr/>
        </p:nvSpPr>
        <p:spPr>
          <a:xfrm>
            <a:off x="320040" y="2331720"/>
            <a:ext cx="5394960" cy="105156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320040" y="2331720"/>
            <a:ext cx="109728" cy="1051560"/>
          </a:xfrm>
          <a:prstGeom prst="rect">
            <a:avLst/>
          </a:prstGeom>
          <a:solidFill>
            <a:srgbClr val="065A82"/>
          </a:solidFill>
          <a:ln w="12700">
            <a:solidFill>
              <a:srgbClr val="065A82"/>
            </a:solidFill>
            <a:prstDash val="solid"/>
          </a:ln>
        </p:spPr>
      </p:sp>
      <p:sp>
        <p:nvSpPr>
          <p:cNvPr id="12" name="Text 10"/>
          <p:cNvSpPr/>
          <p:nvPr/>
        </p:nvSpPr>
        <p:spPr>
          <a:xfrm>
            <a:off x="530352" y="2404872"/>
            <a:ext cx="5029200" cy="256032"/>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Two Tariff Episodes</a:t>
            </a:r>
            <a:endParaRPr lang="en-US" sz="1200" dirty="0"/>
          </a:p>
        </p:txBody>
      </p:sp>
      <p:sp>
        <p:nvSpPr>
          <p:cNvPr id="13" name="Text 11"/>
          <p:cNvSpPr/>
          <p:nvPr/>
        </p:nvSpPr>
        <p:spPr>
          <a:xfrm>
            <a:off x="530352" y="2651760"/>
            <a:ext cx="5029200" cy="658368"/>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March 2018–April 2019: Section 232 steel &amp; aluminum tariffs + C$16.6B in Canadian retaliatory countermeasures.</a:t>
            </a:r>
            <a:endParaRPr lang="en-US" sz="1000" dirty="0"/>
          </a:p>
          <a:p>
            <a:pPr indent="0" marL="0">
              <a:buNone/>
            </a:pPr>
            <a:r>
              <a:rPr lang="en-US" sz="1000" dirty="0">
                <a:solidFill>
                  <a:srgbClr val="5A6A8A"/>
                </a:solidFill>
                <a:latin typeface="Calibri" pitchFamily="34" charset="0"/>
                <a:ea typeface="Calibri" pitchFamily="34" charset="-122"/>
                <a:cs typeface="Calibri" pitchFamily="34" charset="-120"/>
              </a:rPr>
              <a:t>March 2025 onward: Second wave — duties on steel, aluminum, and automobiles persist post-Sept 1, 2025.</a:t>
            </a:r>
            <a:endParaRPr lang="en-US" sz="1000" dirty="0"/>
          </a:p>
        </p:txBody>
      </p:sp>
      <p:sp>
        <p:nvSpPr>
          <p:cNvPr id="14" name="Shape 12"/>
          <p:cNvSpPr/>
          <p:nvPr/>
        </p:nvSpPr>
        <p:spPr>
          <a:xfrm>
            <a:off x="320040" y="3520440"/>
            <a:ext cx="5394960" cy="105156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320040" y="3520440"/>
            <a:ext cx="109728" cy="1051560"/>
          </a:xfrm>
          <a:prstGeom prst="rect">
            <a:avLst/>
          </a:prstGeom>
          <a:solidFill>
            <a:srgbClr val="065A82"/>
          </a:solidFill>
          <a:ln w="12700">
            <a:solidFill>
              <a:srgbClr val="065A82"/>
            </a:solidFill>
            <a:prstDash val="solid"/>
          </a:ln>
        </p:spPr>
      </p:sp>
      <p:sp>
        <p:nvSpPr>
          <p:cNvPr id="16" name="Text 14"/>
          <p:cNvSpPr/>
          <p:nvPr/>
        </p:nvSpPr>
        <p:spPr>
          <a:xfrm>
            <a:off x="530352" y="3593592"/>
            <a:ext cx="5029200" cy="256032"/>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The Core Question</a:t>
            </a:r>
            <a:endParaRPr lang="en-US" sz="1200" dirty="0"/>
          </a:p>
        </p:txBody>
      </p:sp>
      <p:sp>
        <p:nvSpPr>
          <p:cNvPr id="17" name="Text 15"/>
          <p:cNvSpPr/>
          <p:nvPr/>
        </p:nvSpPr>
        <p:spPr>
          <a:xfrm>
            <a:off x="530352" y="3840480"/>
            <a:ext cx="5029200" cy="658368"/>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Do tariff-active periods produce statistically detectable changes in trade volumes, or do other forces (exchange rates, inflation, supply chain disruptions) dominate the signal?</a:t>
            </a:r>
            <a:endParaRPr lang="en-US" sz="1000" dirty="0"/>
          </a:p>
        </p:txBody>
      </p:sp>
      <p:sp>
        <p:nvSpPr>
          <p:cNvPr id="18" name="Shape 16"/>
          <p:cNvSpPr/>
          <p:nvPr/>
        </p:nvSpPr>
        <p:spPr>
          <a:xfrm>
            <a:off x="5989320" y="1143000"/>
            <a:ext cx="2834640" cy="91440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3000"/>
              </a:srgbClr>
            </a:outerShdw>
          </a:effectLst>
        </p:spPr>
      </p:sp>
      <p:sp>
        <p:nvSpPr>
          <p:cNvPr id="19" name="Text 17"/>
          <p:cNvSpPr/>
          <p:nvPr/>
        </p:nvSpPr>
        <p:spPr>
          <a:xfrm>
            <a:off x="6099048" y="1234440"/>
            <a:ext cx="2615184"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~75%</a:t>
            </a:r>
            <a:endParaRPr lang="en-US" sz="2800" dirty="0"/>
          </a:p>
        </p:txBody>
      </p:sp>
      <p:sp>
        <p:nvSpPr>
          <p:cNvPr id="20" name="Text 18"/>
          <p:cNvSpPr/>
          <p:nvPr/>
        </p:nvSpPr>
        <p:spPr>
          <a:xfrm>
            <a:off x="6080760" y="1673352"/>
            <a:ext cx="2651760" cy="347472"/>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of Canada's total exports go to the U.S.</a:t>
            </a:r>
            <a:endParaRPr lang="en-US" sz="1000" dirty="0"/>
          </a:p>
        </p:txBody>
      </p:sp>
      <p:sp>
        <p:nvSpPr>
          <p:cNvPr id="21" name="Shape 19"/>
          <p:cNvSpPr/>
          <p:nvPr/>
        </p:nvSpPr>
        <p:spPr>
          <a:xfrm>
            <a:off x="5989320" y="2148840"/>
            <a:ext cx="2834640" cy="91440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3000"/>
              </a:srgbClr>
            </a:outerShdw>
          </a:effectLst>
        </p:spPr>
      </p:sp>
      <p:sp>
        <p:nvSpPr>
          <p:cNvPr id="22" name="Text 20"/>
          <p:cNvSpPr/>
          <p:nvPr/>
        </p:nvSpPr>
        <p:spPr>
          <a:xfrm>
            <a:off x="6099048" y="2240280"/>
            <a:ext cx="2615184"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23" name="Text 21"/>
          <p:cNvSpPr/>
          <p:nvPr/>
        </p:nvSpPr>
        <p:spPr>
          <a:xfrm>
            <a:off x="6080760" y="2679192"/>
            <a:ext cx="2651760" cy="347472"/>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of Canadian GDP tied to U.S. exports</a:t>
            </a:r>
            <a:endParaRPr lang="en-US" sz="1000" dirty="0"/>
          </a:p>
        </p:txBody>
      </p:sp>
      <p:sp>
        <p:nvSpPr>
          <p:cNvPr id="24" name="Shape 22"/>
          <p:cNvSpPr/>
          <p:nvPr/>
        </p:nvSpPr>
        <p:spPr>
          <a:xfrm>
            <a:off x="5989320" y="3154680"/>
            <a:ext cx="2834640" cy="91440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3000"/>
              </a:srgbClr>
            </a:outerShdw>
          </a:effectLst>
        </p:spPr>
      </p:sp>
      <p:sp>
        <p:nvSpPr>
          <p:cNvPr id="25" name="Text 23"/>
          <p:cNvSpPr/>
          <p:nvPr/>
        </p:nvSpPr>
        <p:spPr>
          <a:xfrm>
            <a:off x="6099048" y="3246120"/>
            <a:ext cx="2615184"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26" name="Text 24"/>
          <p:cNvSpPr/>
          <p:nvPr/>
        </p:nvSpPr>
        <p:spPr>
          <a:xfrm>
            <a:off x="6080760" y="3685032"/>
            <a:ext cx="2651760" cy="347472"/>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projected Canadian GDP loss under 25% tariff scenario (May, 2025)</a:t>
            </a:r>
            <a:endParaRPr lang="en-US" sz="1000" dirty="0"/>
          </a:p>
        </p:txBody>
      </p:sp>
      <p:sp>
        <p:nvSpPr>
          <p:cNvPr id="27" name="Text 25"/>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86AB"/>
          </a:solidFill>
          <a:ln w="12700">
            <a:solidFill>
              <a:srgbClr val="2E86AB"/>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Research Framework</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Three research questions tested across steel, aluminum, and automobile sectors</a:t>
            </a:r>
            <a:endParaRPr lang="en-US" sz="1200" dirty="0"/>
          </a:p>
        </p:txBody>
      </p:sp>
      <p:sp>
        <p:nvSpPr>
          <p:cNvPr id="6" name="Shape 4"/>
          <p:cNvSpPr/>
          <p:nvPr/>
        </p:nvSpPr>
        <p:spPr>
          <a:xfrm>
            <a:off x="320040" y="1143000"/>
            <a:ext cx="8503920" cy="111556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320040" y="1143000"/>
            <a:ext cx="822960" cy="1115568"/>
          </a:xfrm>
          <a:prstGeom prst="rect">
            <a:avLst/>
          </a:prstGeom>
          <a:solidFill>
            <a:srgbClr val="1E2761"/>
          </a:solidFill>
          <a:ln w="12700">
            <a:solidFill>
              <a:srgbClr val="1E2761"/>
            </a:solidFill>
            <a:prstDash val="solid"/>
          </a:ln>
        </p:spPr>
      </p:sp>
      <p:sp>
        <p:nvSpPr>
          <p:cNvPr id="8" name="Text 6"/>
          <p:cNvSpPr/>
          <p:nvPr/>
        </p:nvSpPr>
        <p:spPr>
          <a:xfrm>
            <a:off x="320040" y="1490472"/>
            <a:ext cx="822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RQ1</a:t>
            </a:r>
            <a:endParaRPr lang="en-US" sz="1800" dirty="0"/>
          </a:p>
        </p:txBody>
      </p:sp>
      <p:sp>
        <p:nvSpPr>
          <p:cNvPr id="9" name="Text 7"/>
          <p:cNvSpPr/>
          <p:nvPr/>
        </p:nvSpPr>
        <p:spPr>
          <a:xfrm>
            <a:off x="1234440" y="1197864"/>
            <a:ext cx="7406640" cy="292608"/>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Did Canada's imports from the U.S. decline during tariff periods?</a:t>
            </a:r>
            <a:endParaRPr lang="en-US" sz="1200" dirty="0"/>
          </a:p>
        </p:txBody>
      </p:sp>
      <p:sp>
        <p:nvSpPr>
          <p:cNvPr id="10" name="Text 8"/>
          <p:cNvSpPr/>
          <p:nvPr/>
        </p:nvSpPr>
        <p:spPr>
          <a:xfrm>
            <a:off x="1234440" y="1508760"/>
            <a:ext cx="7406640" cy="292608"/>
          </a:xfrm>
          <a:prstGeom prst="rect">
            <a:avLst/>
          </a:prstGeom>
          <a:noFill/>
          <a:ln/>
        </p:spPr>
        <p:txBody>
          <a:bodyPr wrap="square" lIns="0" tIns="0" rIns="0" bIns="0" rtlCol="0" anchor="ctr"/>
          <a:lstStyle/>
          <a:p>
            <a:pPr indent="0" marL="0">
              <a:buNone/>
            </a:pPr>
            <a:r>
              <a:rPr lang="en-US" sz="1000" i="1" dirty="0">
                <a:solidFill>
                  <a:srgbClr val="5A6A8A"/>
                </a:solidFill>
                <a:latin typeface="Calibri" pitchFamily="34" charset="0"/>
                <a:ea typeface="Calibri" pitchFamily="34" charset="-122"/>
                <a:cs typeface="Calibri" pitchFamily="34" charset="-120"/>
              </a:rPr>
              <a:t>H₀₁: No significant difference in average monthly U.S. export values to Canada during tariff vs. non-tariff periods.</a:t>
            </a:r>
            <a:endParaRPr lang="en-US" sz="1000" dirty="0"/>
          </a:p>
        </p:txBody>
      </p:sp>
      <p:sp>
        <p:nvSpPr>
          <p:cNvPr id="11" name="Text 9"/>
          <p:cNvSpPr/>
          <p:nvPr/>
        </p:nvSpPr>
        <p:spPr>
          <a:xfrm>
            <a:off x="1234440" y="1819656"/>
            <a:ext cx="7406640" cy="292608"/>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H₁₁: Average monthly U.S. exports to Canada are lower during tariff periods.</a:t>
            </a:r>
            <a:endParaRPr lang="en-US" sz="1000" dirty="0"/>
          </a:p>
        </p:txBody>
      </p:sp>
      <p:sp>
        <p:nvSpPr>
          <p:cNvPr id="12" name="Shape 10"/>
          <p:cNvSpPr/>
          <p:nvPr/>
        </p:nvSpPr>
        <p:spPr>
          <a:xfrm>
            <a:off x="320040" y="2377440"/>
            <a:ext cx="8503920" cy="111556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3" name="Shape 11"/>
          <p:cNvSpPr/>
          <p:nvPr/>
        </p:nvSpPr>
        <p:spPr>
          <a:xfrm>
            <a:off x="320040" y="2377440"/>
            <a:ext cx="822960" cy="1115568"/>
          </a:xfrm>
          <a:prstGeom prst="rect">
            <a:avLst/>
          </a:prstGeom>
          <a:solidFill>
            <a:srgbClr val="065A82"/>
          </a:solidFill>
          <a:ln w="12700">
            <a:solidFill>
              <a:srgbClr val="065A82"/>
            </a:solidFill>
            <a:prstDash val="solid"/>
          </a:ln>
        </p:spPr>
      </p:sp>
      <p:sp>
        <p:nvSpPr>
          <p:cNvPr id="14" name="Text 12"/>
          <p:cNvSpPr/>
          <p:nvPr/>
        </p:nvSpPr>
        <p:spPr>
          <a:xfrm>
            <a:off x="320040" y="2724912"/>
            <a:ext cx="822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RQ2</a:t>
            </a:r>
            <a:endParaRPr lang="en-US" sz="1800" dirty="0"/>
          </a:p>
        </p:txBody>
      </p:sp>
      <p:sp>
        <p:nvSpPr>
          <p:cNvPr id="15" name="Text 13"/>
          <p:cNvSpPr/>
          <p:nvPr/>
        </p:nvSpPr>
        <p:spPr>
          <a:xfrm>
            <a:off x="1234440" y="2432304"/>
            <a:ext cx="7406640" cy="292608"/>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Did Canada increase imports from non-U.S. countries (trade diversion)?</a:t>
            </a:r>
            <a:endParaRPr lang="en-US" sz="1200" dirty="0"/>
          </a:p>
        </p:txBody>
      </p:sp>
      <p:sp>
        <p:nvSpPr>
          <p:cNvPr id="16" name="Text 14"/>
          <p:cNvSpPr/>
          <p:nvPr/>
        </p:nvSpPr>
        <p:spPr>
          <a:xfrm>
            <a:off x="1234440" y="2743200"/>
            <a:ext cx="7406640" cy="292608"/>
          </a:xfrm>
          <a:prstGeom prst="rect">
            <a:avLst/>
          </a:prstGeom>
          <a:noFill/>
          <a:ln/>
        </p:spPr>
        <p:txBody>
          <a:bodyPr wrap="square" lIns="0" tIns="0" rIns="0" bIns="0" rtlCol="0" anchor="ctr"/>
          <a:lstStyle/>
          <a:p>
            <a:pPr indent="0" marL="0">
              <a:buNone/>
            </a:pPr>
            <a:r>
              <a:rPr lang="en-US" sz="1000" i="1" dirty="0">
                <a:solidFill>
                  <a:srgbClr val="5A6A8A"/>
                </a:solidFill>
                <a:latin typeface="Calibri" pitchFamily="34" charset="0"/>
                <a:ea typeface="Calibri" pitchFamily="34" charset="-122"/>
                <a:cs typeface="Calibri" pitchFamily="34" charset="-120"/>
              </a:rPr>
              <a:t>H₀₂: No significant difference in non-U.S. import values during tariff vs. non-tariff periods.</a:t>
            </a:r>
            <a:endParaRPr lang="en-US" sz="1000" dirty="0"/>
          </a:p>
        </p:txBody>
      </p:sp>
      <p:sp>
        <p:nvSpPr>
          <p:cNvPr id="17" name="Text 15"/>
          <p:cNvSpPr/>
          <p:nvPr/>
        </p:nvSpPr>
        <p:spPr>
          <a:xfrm>
            <a:off x="1234440" y="3054096"/>
            <a:ext cx="7406640" cy="29260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H₁₂: Average monthly non-U.S. imports are higher during tariff periods.</a:t>
            </a:r>
            <a:endParaRPr lang="en-US" sz="1000" dirty="0"/>
          </a:p>
        </p:txBody>
      </p:sp>
      <p:sp>
        <p:nvSpPr>
          <p:cNvPr id="18" name="Shape 16"/>
          <p:cNvSpPr/>
          <p:nvPr/>
        </p:nvSpPr>
        <p:spPr>
          <a:xfrm>
            <a:off x="320040" y="3611880"/>
            <a:ext cx="8503920" cy="111556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320040" y="3611880"/>
            <a:ext cx="822960" cy="1115568"/>
          </a:xfrm>
          <a:prstGeom prst="rect">
            <a:avLst/>
          </a:prstGeom>
          <a:solidFill>
            <a:srgbClr val="2E86AB"/>
          </a:solidFill>
          <a:ln w="12700">
            <a:solidFill>
              <a:srgbClr val="2E86AB"/>
            </a:solidFill>
            <a:prstDash val="solid"/>
          </a:ln>
        </p:spPr>
      </p:sp>
      <p:sp>
        <p:nvSpPr>
          <p:cNvPr id="20" name="Text 18"/>
          <p:cNvSpPr/>
          <p:nvPr/>
        </p:nvSpPr>
        <p:spPr>
          <a:xfrm>
            <a:off x="320040" y="3959352"/>
            <a:ext cx="822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RQ3</a:t>
            </a:r>
            <a:endParaRPr lang="en-US" sz="1800" dirty="0"/>
          </a:p>
        </p:txBody>
      </p:sp>
      <p:sp>
        <p:nvSpPr>
          <p:cNvPr id="21" name="Text 19"/>
          <p:cNvSpPr/>
          <p:nvPr/>
        </p:nvSpPr>
        <p:spPr>
          <a:xfrm>
            <a:off x="1234440" y="3666744"/>
            <a:ext cx="7406640" cy="292608"/>
          </a:xfrm>
          <a:prstGeom prst="rect">
            <a:avLst/>
          </a:prstGeom>
          <a:noFill/>
          <a:ln/>
        </p:spPr>
        <p:txBody>
          <a:bodyPr wrap="square" lIns="0" tIns="0" rIns="0" bIns="0" rtlCol="0" anchor="ctr"/>
          <a:lstStyle/>
          <a:p>
            <a:pPr indent="0" marL="0">
              <a:buNone/>
            </a:pPr>
            <a:r>
              <a:rPr lang="en-US" sz="1200" b="1" dirty="0">
                <a:solidFill>
                  <a:srgbClr val="1A2547"/>
                </a:solidFill>
                <a:latin typeface="Calibri" pitchFamily="34" charset="0"/>
                <a:ea typeface="Calibri" pitchFamily="34" charset="-122"/>
                <a:cs typeface="Calibri" pitchFamily="34" charset="-120"/>
              </a:rPr>
              <a:t>Did Canada's exports to the U.S. decline during tariff periods?</a:t>
            </a:r>
            <a:endParaRPr lang="en-US" sz="1200" dirty="0"/>
          </a:p>
        </p:txBody>
      </p:sp>
      <p:sp>
        <p:nvSpPr>
          <p:cNvPr id="22" name="Text 20"/>
          <p:cNvSpPr/>
          <p:nvPr/>
        </p:nvSpPr>
        <p:spPr>
          <a:xfrm>
            <a:off x="1234440" y="3977640"/>
            <a:ext cx="7406640" cy="292608"/>
          </a:xfrm>
          <a:prstGeom prst="rect">
            <a:avLst/>
          </a:prstGeom>
          <a:noFill/>
          <a:ln/>
        </p:spPr>
        <p:txBody>
          <a:bodyPr wrap="square" lIns="0" tIns="0" rIns="0" bIns="0" rtlCol="0" anchor="ctr"/>
          <a:lstStyle/>
          <a:p>
            <a:pPr indent="0" marL="0">
              <a:buNone/>
            </a:pPr>
            <a:r>
              <a:rPr lang="en-US" sz="1000" i="1" dirty="0">
                <a:solidFill>
                  <a:srgbClr val="5A6A8A"/>
                </a:solidFill>
                <a:latin typeface="Calibri" pitchFamily="34" charset="0"/>
                <a:ea typeface="Calibri" pitchFamily="34" charset="-122"/>
                <a:cs typeface="Calibri" pitchFamily="34" charset="-120"/>
              </a:rPr>
              <a:t>H₀₃: No significant difference in Canada's export values to the U.S. during tariff vs. non-tariff periods.</a:t>
            </a:r>
            <a:endParaRPr lang="en-US" sz="1000" dirty="0"/>
          </a:p>
        </p:txBody>
      </p:sp>
      <p:sp>
        <p:nvSpPr>
          <p:cNvPr id="23" name="Text 21"/>
          <p:cNvSpPr/>
          <p:nvPr/>
        </p:nvSpPr>
        <p:spPr>
          <a:xfrm>
            <a:off x="1234440" y="4288536"/>
            <a:ext cx="7406640" cy="292608"/>
          </a:xfrm>
          <a:prstGeom prst="rect">
            <a:avLst/>
          </a:prstGeom>
          <a:noFill/>
          <a:ln/>
        </p:spPr>
        <p:txBody>
          <a:bodyPr wrap="square" lIns="0" tIns="0" rIns="0" bIns="0"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H₁₃: Average monthly Canadian exports to the U.S. are lower during tariff periods.</a:t>
            </a:r>
            <a:endParaRPr lang="en-US" sz="1000" dirty="0"/>
          </a:p>
        </p:txBody>
      </p:sp>
      <p:sp>
        <p:nvSpPr>
          <p:cNvPr id="24" name="Text 22"/>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65A82"/>
          </a:solidFill>
          <a:ln w="12700">
            <a:solidFill>
              <a:srgbClr val="065A82"/>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 &amp; Methodology</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15 HS6 product codes | January 2012 – January 2026</a:t>
            </a:r>
            <a:endParaRPr lang="en-US" sz="1200" dirty="0"/>
          </a:p>
        </p:txBody>
      </p:sp>
      <p:sp>
        <p:nvSpPr>
          <p:cNvPr id="6" name="Text 4"/>
          <p:cNvSpPr/>
          <p:nvPr/>
        </p:nvSpPr>
        <p:spPr>
          <a:xfrm>
            <a:off x="365760" y="1097280"/>
            <a:ext cx="402336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Three Datasets</a:t>
            </a:r>
            <a:endParaRPr lang="en-US" sz="1300" dirty="0"/>
          </a:p>
        </p:txBody>
      </p:sp>
      <p:sp>
        <p:nvSpPr>
          <p:cNvPr id="7" name="Shape 5"/>
          <p:cNvSpPr/>
          <p:nvPr/>
        </p:nvSpPr>
        <p:spPr>
          <a:xfrm>
            <a:off x="365760" y="1444752"/>
            <a:ext cx="4023360" cy="56692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8" name="Shape 6"/>
          <p:cNvSpPr/>
          <p:nvPr/>
        </p:nvSpPr>
        <p:spPr>
          <a:xfrm>
            <a:off x="365760" y="1444752"/>
            <a:ext cx="91440" cy="566928"/>
          </a:xfrm>
          <a:prstGeom prst="rect">
            <a:avLst/>
          </a:prstGeom>
          <a:solidFill>
            <a:srgbClr val="065A82"/>
          </a:solidFill>
          <a:ln w="12700">
            <a:solidFill>
              <a:srgbClr val="065A82"/>
            </a:solidFill>
            <a:prstDash val="solid"/>
          </a:ln>
        </p:spPr>
      </p:sp>
      <p:sp>
        <p:nvSpPr>
          <p:cNvPr id="9" name="Text 7"/>
          <p:cNvSpPr/>
          <p:nvPr/>
        </p:nvSpPr>
        <p:spPr>
          <a:xfrm>
            <a:off x="530352" y="1499616"/>
            <a:ext cx="3749040" cy="219456"/>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U.S. Exports to Canada</a:t>
            </a:r>
            <a:endParaRPr lang="en-US" sz="1100" dirty="0"/>
          </a:p>
        </p:txBody>
      </p:sp>
      <p:sp>
        <p:nvSpPr>
          <p:cNvPr id="10" name="Text 8"/>
          <p:cNvSpPr/>
          <p:nvPr/>
        </p:nvSpPr>
        <p:spPr>
          <a:xfrm>
            <a:off x="530352" y="1719072"/>
            <a:ext cx="374904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USITC DataWeb — monthly by HS code</a:t>
            </a:r>
            <a:endParaRPr lang="en-US" sz="1000" dirty="0"/>
          </a:p>
        </p:txBody>
      </p:sp>
      <p:sp>
        <p:nvSpPr>
          <p:cNvPr id="11" name="Shape 9"/>
          <p:cNvSpPr/>
          <p:nvPr/>
        </p:nvSpPr>
        <p:spPr>
          <a:xfrm>
            <a:off x="365760" y="2103120"/>
            <a:ext cx="4023360" cy="56692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2" name="Shape 10"/>
          <p:cNvSpPr/>
          <p:nvPr/>
        </p:nvSpPr>
        <p:spPr>
          <a:xfrm>
            <a:off x="365760" y="2103120"/>
            <a:ext cx="91440" cy="566928"/>
          </a:xfrm>
          <a:prstGeom prst="rect">
            <a:avLst/>
          </a:prstGeom>
          <a:solidFill>
            <a:srgbClr val="065A82"/>
          </a:solidFill>
          <a:ln w="12700">
            <a:solidFill>
              <a:srgbClr val="065A82"/>
            </a:solidFill>
            <a:prstDash val="solid"/>
          </a:ln>
        </p:spPr>
      </p:sp>
      <p:sp>
        <p:nvSpPr>
          <p:cNvPr id="13" name="Text 11"/>
          <p:cNvSpPr/>
          <p:nvPr/>
        </p:nvSpPr>
        <p:spPr>
          <a:xfrm>
            <a:off x="530352" y="2157984"/>
            <a:ext cx="3749040" cy="219456"/>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Canada Imports (by source)</a:t>
            </a:r>
            <a:endParaRPr lang="en-US" sz="1100" dirty="0"/>
          </a:p>
        </p:txBody>
      </p:sp>
      <p:sp>
        <p:nvSpPr>
          <p:cNvPr id="14" name="Text 12"/>
          <p:cNvSpPr/>
          <p:nvPr/>
        </p:nvSpPr>
        <p:spPr>
          <a:xfrm>
            <a:off x="530352" y="2377440"/>
            <a:ext cx="374904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Statistics Canada — annual + 24-mo monthly</a:t>
            </a:r>
            <a:endParaRPr lang="en-US" sz="1000" dirty="0"/>
          </a:p>
        </p:txBody>
      </p:sp>
      <p:sp>
        <p:nvSpPr>
          <p:cNvPr id="15" name="Shape 13"/>
          <p:cNvSpPr/>
          <p:nvPr/>
        </p:nvSpPr>
        <p:spPr>
          <a:xfrm>
            <a:off x="365760" y="2761488"/>
            <a:ext cx="4023360" cy="56692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6" name="Shape 14"/>
          <p:cNvSpPr/>
          <p:nvPr/>
        </p:nvSpPr>
        <p:spPr>
          <a:xfrm>
            <a:off x="365760" y="2761488"/>
            <a:ext cx="91440" cy="566928"/>
          </a:xfrm>
          <a:prstGeom prst="rect">
            <a:avLst/>
          </a:prstGeom>
          <a:solidFill>
            <a:srgbClr val="065A82"/>
          </a:solidFill>
          <a:ln w="12700">
            <a:solidFill>
              <a:srgbClr val="065A82"/>
            </a:solidFill>
            <a:prstDash val="solid"/>
          </a:ln>
        </p:spPr>
      </p:sp>
      <p:sp>
        <p:nvSpPr>
          <p:cNvPr id="17" name="Text 15"/>
          <p:cNvSpPr/>
          <p:nvPr/>
        </p:nvSpPr>
        <p:spPr>
          <a:xfrm>
            <a:off x="530352" y="2816352"/>
            <a:ext cx="3749040" cy="219456"/>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U.S. Imports from Canada</a:t>
            </a:r>
            <a:endParaRPr lang="en-US" sz="1100" dirty="0"/>
          </a:p>
        </p:txBody>
      </p:sp>
      <p:sp>
        <p:nvSpPr>
          <p:cNvPr id="18" name="Text 16"/>
          <p:cNvSpPr/>
          <p:nvPr/>
        </p:nvSpPr>
        <p:spPr>
          <a:xfrm>
            <a:off x="530352" y="3035808"/>
            <a:ext cx="374904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USITC DataWeb — proxy for Canadian exports, monthly</a:t>
            </a:r>
            <a:endParaRPr lang="en-US" sz="1000" dirty="0"/>
          </a:p>
        </p:txBody>
      </p:sp>
      <p:sp>
        <p:nvSpPr>
          <p:cNvPr id="19" name="Text 17"/>
          <p:cNvSpPr/>
          <p:nvPr/>
        </p:nvSpPr>
        <p:spPr>
          <a:xfrm>
            <a:off x="4663440" y="1097280"/>
            <a:ext cx="41605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HS6 Sector Groups</a:t>
            </a:r>
            <a:endParaRPr lang="en-US" sz="1300" dirty="0"/>
          </a:p>
        </p:txBody>
      </p:sp>
      <p:sp>
        <p:nvSpPr>
          <p:cNvPr id="20" name="Shape 18"/>
          <p:cNvSpPr/>
          <p:nvPr/>
        </p:nvSpPr>
        <p:spPr>
          <a:xfrm>
            <a:off x="4663440" y="1444752"/>
            <a:ext cx="4160520" cy="566928"/>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3000"/>
              </a:srgbClr>
            </a:outerShdw>
          </a:effectLst>
        </p:spPr>
      </p:sp>
      <p:sp>
        <p:nvSpPr>
          <p:cNvPr id="21" name="Text 19"/>
          <p:cNvSpPr/>
          <p:nvPr/>
        </p:nvSpPr>
        <p:spPr>
          <a:xfrm>
            <a:off x="4773168" y="1499616"/>
            <a:ext cx="384048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Steel (5 codes)</a:t>
            </a:r>
            <a:endParaRPr lang="en-US" sz="1100" dirty="0"/>
          </a:p>
        </p:txBody>
      </p:sp>
      <p:sp>
        <p:nvSpPr>
          <p:cNvPr id="22" name="Text 20"/>
          <p:cNvSpPr/>
          <p:nvPr/>
        </p:nvSpPr>
        <p:spPr>
          <a:xfrm>
            <a:off x="4773168" y="1719072"/>
            <a:ext cx="3840480" cy="219456"/>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720825, 720851, 720916, 721070, 721310</a:t>
            </a:r>
            <a:endParaRPr lang="en-US" sz="1000" dirty="0"/>
          </a:p>
        </p:txBody>
      </p:sp>
      <p:sp>
        <p:nvSpPr>
          <p:cNvPr id="23" name="Shape 21"/>
          <p:cNvSpPr/>
          <p:nvPr/>
        </p:nvSpPr>
        <p:spPr>
          <a:xfrm>
            <a:off x="4663440" y="2103120"/>
            <a:ext cx="4160520" cy="566928"/>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3000"/>
              </a:srgbClr>
            </a:outerShdw>
          </a:effectLst>
        </p:spPr>
      </p:sp>
      <p:sp>
        <p:nvSpPr>
          <p:cNvPr id="24" name="Text 22"/>
          <p:cNvSpPr/>
          <p:nvPr/>
        </p:nvSpPr>
        <p:spPr>
          <a:xfrm>
            <a:off x="4773168" y="2157984"/>
            <a:ext cx="384048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Aluminum (5 codes)</a:t>
            </a:r>
            <a:endParaRPr lang="en-US" sz="1100" dirty="0"/>
          </a:p>
        </p:txBody>
      </p:sp>
      <p:sp>
        <p:nvSpPr>
          <p:cNvPr id="25" name="Text 23"/>
          <p:cNvSpPr/>
          <p:nvPr/>
        </p:nvSpPr>
        <p:spPr>
          <a:xfrm>
            <a:off x="4773168" y="2377440"/>
            <a:ext cx="3840480" cy="219456"/>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760110, 760120, 760421, 760612, 760711</a:t>
            </a:r>
            <a:endParaRPr lang="en-US" sz="1000" dirty="0"/>
          </a:p>
        </p:txBody>
      </p:sp>
      <p:sp>
        <p:nvSpPr>
          <p:cNvPr id="26" name="Shape 24"/>
          <p:cNvSpPr/>
          <p:nvPr/>
        </p:nvSpPr>
        <p:spPr>
          <a:xfrm>
            <a:off x="4663440" y="2761488"/>
            <a:ext cx="4160520" cy="566928"/>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3000"/>
              </a:srgbClr>
            </a:outerShdw>
          </a:effectLst>
        </p:spPr>
      </p:sp>
      <p:sp>
        <p:nvSpPr>
          <p:cNvPr id="27" name="Text 25"/>
          <p:cNvSpPr/>
          <p:nvPr/>
        </p:nvSpPr>
        <p:spPr>
          <a:xfrm>
            <a:off x="4773168" y="2816352"/>
            <a:ext cx="384048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Automobiles (5 codes)</a:t>
            </a:r>
            <a:endParaRPr lang="en-US" sz="1100" dirty="0"/>
          </a:p>
        </p:txBody>
      </p:sp>
      <p:sp>
        <p:nvSpPr>
          <p:cNvPr id="28" name="Text 26"/>
          <p:cNvSpPr/>
          <p:nvPr/>
        </p:nvSpPr>
        <p:spPr>
          <a:xfrm>
            <a:off x="4773168" y="3035808"/>
            <a:ext cx="3840480" cy="219456"/>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870323, 870324, 870421, 870840, 870899</a:t>
            </a:r>
            <a:endParaRPr lang="en-US" sz="1000" dirty="0"/>
          </a:p>
        </p:txBody>
      </p:sp>
      <p:sp>
        <p:nvSpPr>
          <p:cNvPr id="29" name="Text 27"/>
          <p:cNvSpPr/>
          <p:nvPr/>
        </p:nvSpPr>
        <p:spPr>
          <a:xfrm>
            <a:off x="365760" y="3493008"/>
            <a:ext cx="841248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Analytical Methods</a:t>
            </a:r>
            <a:endParaRPr lang="en-US" sz="1300" dirty="0"/>
          </a:p>
        </p:txBody>
      </p:sp>
      <p:sp>
        <p:nvSpPr>
          <p:cNvPr id="30" name="Shape 28"/>
          <p:cNvSpPr/>
          <p:nvPr/>
        </p:nvSpPr>
        <p:spPr>
          <a:xfrm>
            <a:off x="365760" y="3822192"/>
            <a:ext cx="2011680" cy="8229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3000"/>
              </a:srgbClr>
            </a:outerShdw>
          </a:effectLst>
        </p:spPr>
      </p:sp>
      <p:sp>
        <p:nvSpPr>
          <p:cNvPr id="31" name="Text 29"/>
          <p:cNvSpPr/>
          <p:nvPr/>
        </p:nvSpPr>
        <p:spPr>
          <a:xfrm>
            <a:off x="411480" y="3858768"/>
            <a:ext cx="192024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Descriptive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Statistics</a:t>
            </a:r>
            <a:endParaRPr lang="en-US" sz="1100" dirty="0"/>
          </a:p>
        </p:txBody>
      </p:sp>
      <p:sp>
        <p:nvSpPr>
          <p:cNvPr id="32" name="Shape 30"/>
          <p:cNvSpPr/>
          <p:nvPr/>
        </p:nvSpPr>
        <p:spPr>
          <a:xfrm>
            <a:off x="2514600" y="3822192"/>
            <a:ext cx="2011680" cy="82296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3000"/>
              </a:srgbClr>
            </a:outerShdw>
          </a:effectLst>
        </p:spPr>
      </p:sp>
      <p:sp>
        <p:nvSpPr>
          <p:cNvPr id="33" name="Text 31"/>
          <p:cNvSpPr/>
          <p:nvPr/>
        </p:nvSpPr>
        <p:spPr>
          <a:xfrm>
            <a:off x="2560320" y="3858768"/>
            <a:ext cx="192024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Mann-Whitney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U Test</a:t>
            </a:r>
            <a:endParaRPr lang="en-US" sz="1100" dirty="0"/>
          </a:p>
        </p:txBody>
      </p:sp>
      <p:sp>
        <p:nvSpPr>
          <p:cNvPr id="34" name="Shape 32"/>
          <p:cNvSpPr/>
          <p:nvPr/>
        </p:nvSpPr>
        <p:spPr>
          <a:xfrm>
            <a:off x="4663440" y="3822192"/>
            <a:ext cx="2011680" cy="82296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3000"/>
              </a:srgbClr>
            </a:outerShdw>
          </a:effectLst>
        </p:spPr>
      </p:sp>
      <p:sp>
        <p:nvSpPr>
          <p:cNvPr id="35" name="Text 33"/>
          <p:cNvSpPr/>
          <p:nvPr/>
        </p:nvSpPr>
        <p:spPr>
          <a:xfrm>
            <a:off x="4709160" y="3858768"/>
            <a:ext cx="192024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OLS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Regression</a:t>
            </a:r>
            <a:endParaRPr lang="en-US" sz="1100" dirty="0"/>
          </a:p>
        </p:txBody>
      </p:sp>
      <p:sp>
        <p:nvSpPr>
          <p:cNvPr id="36" name="Shape 34"/>
          <p:cNvSpPr/>
          <p:nvPr/>
        </p:nvSpPr>
        <p:spPr>
          <a:xfrm>
            <a:off x="6812280" y="3822192"/>
            <a:ext cx="2011680" cy="8229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3000"/>
              </a:srgbClr>
            </a:outerShdw>
          </a:effectLst>
        </p:spPr>
      </p:sp>
      <p:sp>
        <p:nvSpPr>
          <p:cNvPr id="37" name="Text 35"/>
          <p:cNvSpPr/>
          <p:nvPr/>
        </p:nvSpPr>
        <p:spPr>
          <a:xfrm>
            <a:off x="6858000" y="3858768"/>
            <a:ext cx="192024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Predictive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Forecast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(2 Scenarios)</a:t>
            </a:r>
            <a:endParaRPr lang="en-US" sz="1100" dirty="0"/>
          </a:p>
        </p:txBody>
      </p:sp>
      <p:sp>
        <p:nvSpPr>
          <p:cNvPr id="38" name="Text 36"/>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65A82"/>
          </a:solidFill>
          <a:ln w="12700">
            <a:solidFill>
              <a:srgbClr val="065A82"/>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Descriptive Statistics</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Trade scale varies dramatically by sector — automotive dominates</a:t>
            </a:r>
            <a:endParaRPr lang="en-US" sz="1200" dirty="0"/>
          </a:p>
        </p:txBody>
      </p:sp>
      <p:graphicFrame>
        <p:nvGraphicFramePr>
          <p:cNvPr id="6" name="Chart 0" descr=""/>
          <p:cNvGraphicFramePr/>
          <p:nvPr/>
        </p:nvGraphicFramePr>
        <p:xfrm>
          <a:off x="320040" y="1097280"/>
          <a:ext cx="4206240" cy="33832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754880" y="1097280"/>
            <a:ext cx="4069080" cy="74980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8" name="Shape 5"/>
          <p:cNvSpPr/>
          <p:nvPr/>
        </p:nvSpPr>
        <p:spPr>
          <a:xfrm>
            <a:off x="4754880" y="1097280"/>
            <a:ext cx="91440" cy="749808"/>
          </a:xfrm>
          <a:prstGeom prst="rect">
            <a:avLst/>
          </a:prstGeom>
          <a:solidFill>
            <a:srgbClr val="2E86AB"/>
          </a:solidFill>
          <a:ln w="12700">
            <a:solidFill>
              <a:srgbClr val="2E86AB"/>
            </a:solidFill>
            <a:prstDash val="solid"/>
          </a:ln>
        </p:spPr>
      </p:sp>
      <p:sp>
        <p:nvSpPr>
          <p:cNvPr id="9" name="Text 6"/>
          <p:cNvSpPr/>
          <p:nvPr/>
        </p:nvSpPr>
        <p:spPr>
          <a:xfrm>
            <a:off x="4919472" y="1152144"/>
            <a:ext cx="3749040" cy="219456"/>
          </a:xfrm>
          <a:prstGeom prst="rect">
            <a:avLst/>
          </a:prstGeom>
          <a:noFill/>
          <a:ln/>
        </p:spPr>
        <p:txBody>
          <a:bodyPr wrap="square" lIns="0" tIns="0" rIns="0" bIns="0" rtlCol="0" anchor="ctr"/>
          <a:lstStyle/>
          <a:p>
            <a:pPr indent="0" marL="0">
              <a:buNone/>
            </a:pPr>
            <a:r>
              <a:rPr lang="en-US" sz="1100" b="1" dirty="0">
                <a:solidFill>
                  <a:srgbClr val="2E86AB"/>
                </a:solidFill>
                <a:latin typeface="Calibri" pitchFamily="34" charset="0"/>
                <a:ea typeface="Calibri" pitchFamily="34" charset="-122"/>
                <a:cs typeface="Calibri" pitchFamily="34" charset="-120"/>
              </a:rPr>
              <a:t>Automotive Dominates</a:t>
            </a:r>
            <a:endParaRPr lang="en-US" sz="1100" dirty="0"/>
          </a:p>
        </p:txBody>
      </p:sp>
      <p:sp>
        <p:nvSpPr>
          <p:cNvPr id="10" name="Text 7"/>
          <p:cNvSpPr/>
          <p:nvPr/>
        </p:nvSpPr>
        <p:spPr>
          <a:xfrm>
            <a:off x="4919472" y="1389888"/>
            <a:ext cx="3749040" cy="40233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$476B total U.S. imports from Canada vs. $61B aluminum and $3.2B steel — auto is 87% of analyzed trade.</a:t>
            </a:r>
            <a:endParaRPr lang="en-US" sz="1000" dirty="0"/>
          </a:p>
        </p:txBody>
      </p:sp>
      <p:sp>
        <p:nvSpPr>
          <p:cNvPr id="11" name="Shape 8"/>
          <p:cNvSpPr/>
          <p:nvPr/>
        </p:nvSpPr>
        <p:spPr>
          <a:xfrm>
            <a:off x="4754880" y="1965960"/>
            <a:ext cx="4069080" cy="74980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2" name="Shape 9"/>
          <p:cNvSpPr/>
          <p:nvPr/>
        </p:nvSpPr>
        <p:spPr>
          <a:xfrm>
            <a:off x="4754880" y="1965960"/>
            <a:ext cx="91440" cy="749808"/>
          </a:xfrm>
          <a:prstGeom prst="rect">
            <a:avLst/>
          </a:prstGeom>
          <a:solidFill>
            <a:srgbClr val="065A82"/>
          </a:solidFill>
          <a:ln w="12700">
            <a:solidFill>
              <a:srgbClr val="065A82"/>
            </a:solidFill>
            <a:prstDash val="solid"/>
          </a:ln>
        </p:spPr>
      </p:sp>
      <p:sp>
        <p:nvSpPr>
          <p:cNvPr id="13" name="Text 10"/>
          <p:cNvSpPr/>
          <p:nvPr/>
        </p:nvSpPr>
        <p:spPr>
          <a:xfrm>
            <a:off x="4919472" y="2020824"/>
            <a:ext cx="3749040" cy="219456"/>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Right-Skewed Distribution</a:t>
            </a:r>
            <a:endParaRPr lang="en-US" sz="1100" dirty="0"/>
          </a:p>
        </p:txBody>
      </p:sp>
      <p:sp>
        <p:nvSpPr>
          <p:cNvPr id="14" name="Text 11"/>
          <p:cNvSpPr/>
          <p:nvPr/>
        </p:nvSpPr>
        <p:spPr>
          <a:xfrm>
            <a:off x="4919472" y="2258568"/>
            <a:ext cx="3749040" cy="40233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Wide min/max ranges across all sectors confirm non-normal data — supports Mann-Whitney over t-test.</a:t>
            </a:r>
            <a:endParaRPr lang="en-US" sz="1000" dirty="0"/>
          </a:p>
        </p:txBody>
      </p:sp>
      <p:sp>
        <p:nvSpPr>
          <p:cNvPr id="15" name="Shape 12"/>
          <p:cNvSpPr/>
          <p:nvPr/>
        </p:nvSpPr>
        <p:spPr>
          <a:xfrm>
            <a:off x="4754880" y="2834640"/>
            <a:ext cx="4069080" cy="74980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6" name="Shape 13"/>
          <p:cNvSpPr/>
          <p:nvPr/>
        </p:nvSpPr>
        <p:spPr>
          <a:xfrm>
            <a:off x="4754880" y="2834640"/>
            <a:ext cx="91440" cy="749808"/>
          </a:xfrm>
          <a:prstGeom prst="rect">
            <a:avLst/>
          </a:prstGeom>
          <a:solidFill>
            <a:srgbClr val="1E2761"/>
          </a:solidFill>
          <a:ln w="12700">
            <a:solidFill>
              <a:srgbClr val="1E2761"/>
            </a:solidFill>
            <a:prstDash val="solid"/>
          </a:ln>
        </p:spPr>
      </p:sp>
      <p:sp>
        <p:nvSpPr>
          <p:cNvPr id="17" name="Text 14"/>
          <p:cNvSpPr/>
          <p:nvPr/>
        </p:nvSpPr>
        <p:spPr>
          <a:xfrm>
            <a:off x="4919472" y="2889504"/>
            <a:ext cx="3749040" cy="219456"/>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Auto Monthly Std Dev</a:t>
            </a:r>
            <a:endParaRPr lang="en-US" sz="1100" dirty="0"/>
          </a:p>
        </p:txBody>
      </p:sp>
      <p:sp>
        <p:nvSpPr>
          <p:cNvPr id="18" name="Text 15"/>
          <p:cNvSpPr/>
          <p:nvPr/>
        </p:nvSpPr>
        <p:spPr>
          <a:xfrm>
            <a:off x="4919472" y="3127248"/>
            <a:ext cx="3749040" cy="40233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$18M/month for U.S. exports to Canada; much larger swings than aluminum ($5.8M) or steel ($1.1M).</a:t>
            </a:r>
            <a:endParaRPr lang="en-US" sz="1000" dirty="0"/>
          </a:p>
        </p:txBody>
      </p:sp>
      <p:sp>
        <p:nvSpPr>
          <p:cNvPr id="19" name="Shape 16"/>
          <p:cNvSpPr/>
          <p:nvPr/>
        </p:nvSpPr>
        <p:spPr>
          <a:xfrm>
            <a:off x="4754880" y="3703320"/>
            <a:ext cx="4069080" cy="749808"/>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20" name="Shape 17"/>
          <p:cNvSpPr/>
          <p:nvPr/>
        </p:nvSpPr>
        <p:spPr>
          <a:xfrm>
            <a:off x="4754880" y="3703320"/>
            <a:ext cx="91440" cy="749808"/>
          </a:xfrm>
          <a:prstGeom prst="rect">
            <a:avLst/>
          </a:prstGeom>
          <a:solidFill>
            <a:srgbClr val="2E86AB"/>
          </a:solidFill>
          <a:ln w="12700">
            <a:solidFill>
              <a:srgbClr val="2E86AB"/>
            </a:solidFill>
            <a:prstDash val="solid"/>
          </a:ln>
        </p:spPr>
      </p:sp>
      <p:sp>
        <p:nvSpPr>
          <p:cNvPr id="21" name="Text 18"/>
          <p:cNvSpPr/>
          <p:nvPr/>
        </p:nvSpPr>
        <p:spPr>
          <a:xfrm>
            <a:off x="4919472" y="3758184"/>
            <a:ext cx="3749040" cy="219456"/>
          </a:xfrm>
          <a:prstGeom prst="rect">
            <a:avLst/>
          </a:prstGeom>
          <a:noFill/>
          <a:ln/>
        </p:spPr>
        <p:txBody>
          <a:bodyPr wrap="square" lIns="0" tIns="0" rIns="0" bIns="0" rtlCol="0" anchor="ctr"/>
          <a:lstStyle/>
          <a:p>
            <a:pPr indent="0" marL="0">
              <a:buNone/>
            </a:pPr>
            <a:r>
              <a:rPr lang="en-US" sz="1100" b="1" dirty="0">
                <a:solidFill>
                  <a:srgbClr val="2E86AB"/>
                </a:solidFill>
                <a:latin typeface="Calibri" pitchFamily="34" charset="0"/>
                <a:ea typeface="Calibri" pitchFamily="34" charset="-122"/>
                <a:cs typeface="Calibri" pitchFamily="34" charset="-120"/>
              </a:rPr>
              <a:t>Sourcing Shift Signal</a:t>
            </a:r>
            <a:endParaRPr lang="en-US" sz="1100" dirty="0"/>
          </a:p>
        </p:txBody>
      </p:sp>
      <p:sp>
        <p:nvSpPr>
          <p:cNvPr id="22" name="Text 19"/>
          <p:cNvSpPr/>
          <p:nvPr/>
        </p:nvSpPr>
        <p:spPr>
          <a:xfrm>
            <a:off x="4919472" y="3995928"/>
            <a:ext cx="3749040" cy="40233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Annual source-group trends show non-U.S. imports surpassing U.S. imports in steel and aluminum by 2025.</a:t>
            </a:r>
            <a:endParaRPr lang="en-US" sz="1000" dirty="0"/>
          </a:p>
        </p:txBody>
      </p:sp>
      <p:sp>
        <p:nvSpPr>
          <p:cNvPr id="23" name="Text 20"/>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65A82"/>
          </a:solidFill>
          <a:ln w="12700">
            <a:solidFill>
              <a:srgbClr val="065A82"/>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RQ1: Canada's Imports from the U.S.</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Did U.S. exports to Canada decline during tariff periods?</a:t>
            </a:r>
            <a:endParaRPr lang="en-US" sz="1200" dirty="0"/>
          </a:p>
        </p:txBody>
      </p:sp>
      <p:sp>
        <p:nvSpPr>
          <p:cNvPr id="6" name="Shape 4"/>
          <p:cNvSpPr/>
          <p:nvPr/>
        </p:nvSpPr>
        <p:spPr>
          <a:xfrm>
            <a:off x="320040" y="1115568"/>
            <a:ext cx="1280160" cy="310896"/>
          </a:xfrm>
          <a:prstGeom prst="rect">
            <a:avLst/>
          </a:prstGeom>
          <a:solidFill>
            <a:srgbClr val="1E2761"/>
          </a:solidFill>
          <a:ln w="12700">
            <a:solidFill>
              <a:srgbClr val="1E2761"/>
            </a:solidFill>
            <a:prstDash val="solid"/>
          </a:ln>
        </p:spPr>
      </p:sp>
      <p:sp>
        <p:nvSpPr>
          <p:cNvPr id="7" name="Text 5"/>
          <p:cNvSpPr/>
          <p:nvPr/>
        </p:nvSpPr>
        <p:spPr>
          <a:xfrm>
            <a:off x="365760" y="114300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Sector</a:t>
            </a:r>
            <a:endParaRPr lang="en-US" sz="900" dirty="0"/>
          </a:p>
        </p:txBody>
      </p:sp>
      <p:sp>
        <p:nvSpPr>
          <p:cNvPr id="8" name="Shape 6"/>
          <p:cNvSpPr/>
          <p:nvPr/>
        </p:nvSpPr>
        <p:spPr>
          <a:xfrm>
            <a:off x="1600200" y="1115568"/>
            <a:ext cx="1737360" cy="310896"/>
          </a:xfrm>
          <a:prstGeom prst="rect">
            <a:avLst/>
          </a:prstGeom>
          <a:solidFill>
            <a:srgbClr val="1E2761"/>
          </a:solidFill>
          <a:ln w="12700">
            <a:solidFill>
              <a:srgbClr val="1E2761"/>
            </a:solidFill>
            <a:prstDash val="solid"/>
          </a:ln>
        </p:spPr>
      </p:sp>
      <p:sp>
        <p:nvSpPr>
          <p:cNvPr id="9" name="Text 7"/>
          <p:cNvSpPr/>
          <p:nvPr/>
        </p:nvSpPr>
        <p:spPr>
          <a:xfrm>
            <a:off x="1645920" y="1143000"/>
            <a:ext cx="1645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Mann-Whitney p-value</a:t>
            </a:r>
            <a:endParaRPr lang="en-US" sz="900" dirty="0"/>
          </a:p>
        </p:txBody>
      </p:sp>
      <p:sp>
        <p:nvSpPr>
          <p:cNvPr id="10" name="Shape 8"/>
          <p:cNvSpPr/>
          <p:nvPr/>
        </p:nvSpPr>
        <p:spPr>
          <a:xfrm>
            <a:off x="3337560" y="1115568"/>
            <a:ext cx="1874520" cy="310896"/>
          </a:xfrm>
          <a:prstGeom prst="rect">
            <a:avLst/>
          </a:prstGeom>
          <a:solidFill>
            <a:srgbClr val="1E2761"/>
          </a:solidFill>
          <a:ln w="12700">
            <a:solidFill>
              <a:srgbClr val="1E2761"/>
            </a:solidFill>
            <a:prstDash val="solid"/>
          </a:ln>
        </p:spPr>
      </p:sp>
      <p:sp>
        <p:nvSpPr>
          <p:cNvPr id="11" name="Text 9"/>
          <p:cNvSpPr/>
          <p:nvPr/>
        </p:nvSpPr>
        <p:spPr>
          <a:xfrm>
            <a:off x="3383280" y="1143000"/>
            <a:ext cx="17830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OLS β (Tariff Period)</a:t>
            </a:r>
            <a:endParaRPr lang="en-US" sz="900" dirty="0"/>
          </a:p>
        </p:txBody>
      </p:sp>
      <p:sp>
        <p:nvSpPr>
          <p:cNvPr id="12" name="Shape 10"/>
          <p:cNvSpPr/>
          <p:nvPr/>
        </p:nvSpPr>
        <p:spPr>
          <a:xfrm>
            <a:off x="5212080" y="1115568"/>
            <a:ext cx="1371600" cy="310896"/>
          </a:xfrm>
          <a:prstGeom prst="rect">
            <a:avLst/>
          </a:prstGeom>
          <a:solidFill>
            <a:srgbClr val="1E2761"/>
          </a:solidFill>
          <a:ln w="12700">
            <a:solidFill>
              <a:srgbClr val="1E2761"/>
            </a:solidFill>
            <a:prstDash val="solid"/>
          </a:ln>
        </p:spPr>
      </p:sp>
      <p:sp>
        <p:nvSpPr>
          <p:cNvPr id="13" name="Text 11"/>
          <p:cNvSpPr/>
          <p:nvPr/>
        </p:nvSpPr>
        <p:spPr>
          <a:xfrm>
            <a:off x="5257800" y="11430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Median: Tariff On</a:t>
            </a:r>
            <a:endParaRPr lang="en-US" sz="900" dirty="0"/>
          </a:p>
        </p:txBody>
      </p:sp>
      <p:sp>
        <p:nvSpPr>
          <p:cNvPr id="14" name="Shape 12"/>
          <p:cNvSpPr/>
          <p:nvPr/>
        </p:nvSpPr>
        <p:spPr>
          <a:xfrm>
            <a:off x="6583680" y="1115568"/>
            <a:ext cx="1371600" cy="310896"/>
          </a:xfrm>
          <a:prstGeom prst="rect">
            <a:avLst/>
          </a:prstGeom>
          <a:solidFill>
            <a:srgbClr val="1E2761"/>
          </a:solidFill>
          <a:ln w="12700">
            <a:solidFill>
              <a:srgbClr val="1E2761"/>
            </a:solidFill>
            <a:prstDash val="solid"/>
          </a:ln>
        </p:spPr>
      </p:sp>
      <p:sp>
        <p:nvSpPr>
          <p:cNvPr id="15" name="Text 13"/>
          <p:cNvSpPr/>
          <p:nvPr/>
        </p:nvSpPr>
        <p:spPr>
          <a:xfrm>
            <a:off x="6629400" y="11430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Median: Tariff Off</a:t>
            </a:r>
            <a:endParaRPr lang="en-US" sz="900" dirty="0"/>
          </a:p>
        </p:txBody>
      </p:sp>
      <p:sp>
        <p:nvSpPr>
          <p:cNvPr id="16" name="Shape 14"/>
          <p:cNvSpPr/>
          <p:nvPr/>
        </p:nvSpPr>
        <p:spPr>
          <a:xfrm>
            <a:off x="7955280" y="1115568"/>
            <a:ext cx="1554480" cy="310896"/>
          </a:xfrm>
          <a:prstGeom prst="rect">
            <a:avLst/>
          </a:prstGeom>
          <a:solidFill>
            <a:srgbClr val="1E2761"/>
          </a:solidFill>
          <a:ln w="12700">
            <a:solidFill>
              <a:srgbClr val="1E2761"/>
            </a:solidFill>
            <a:prstDash val="solid"/>
          </a:ln>
        </p:spPr>
      </p:sp>
      <p:sp>
        <p:nvSpPr>
          <p:cNvPr id="17" name="Text 15"/>
          <p:cNvSpPr/>
          <p:nvPr/>
        </p:nvSpPr>
        <p:spPr>
          <a:xfrm>
            <a:off x="8001000" y="11430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Outcome</a:t>
            </a:r>
            <a:endParaRPr lang="en-US" sz="900" dirty="0"/>
          </a:p>
        </p:txBody>
      </p:sp>
      <p:sp>
        <p:nvSpPr>
          <p:cNvPr id="18" name="Shape 16"/>
          <p:cNvSpPr/>
          <p:nvPr/>
        </p:nvSpPr>
        <p:spPr>
          <a:xfrm>
            <a:off x="320040" y="1444752"/>
            <a:ext cx="1280160" cy="585216"/>
          </a:xfrm>
          <a:prstGeom prst="rect">
            <a:avLst/>
          </a:prstGeom>
          <a:solidFill>
            <a:srgbClr val="F4F7FC"/>
          </a:solidFill>
          <a:ln w="6350">
            <a:solidFill>
              <a:srgbClr val="E4ECF5"/>
            </a:solidFill>
            <a:prstDash val="solid"/>
          </a:ln>
        </p:spPr>
      </p:sp>
      <p:sp>
        <p:nvSpPr>
          <p:cNvPr id="19" name="Text 17"/>
          <p:cNvSpPr/>
          <p:nvPr/>
        </p:nvSpPr>
        <p:spPr>
          <a:xfrm>
            <a:off x="365760" y="1536192"/>
            <a:ext cx="1188720" cy="402336"/>
          </a:xfrm>
          <a:prstGeom prst="rect">
            <a:avLst/>
          </a:prstGeom>
          <a:noFill/>
          <a:ln/>
        </p:spPr>
        <p:txBody>
          <a:bodyPr wrap="square" lIns="0" tIns="0" rIns="0" bIns="0" rtlCol="0" anchor="ctr"/>
          <a:lstStyle/>
          <a:p>
            <a:pPr algn="ctr" indent="0" marL="0">
              <a:buNone/>
            </a:pPr>
            <a:r>
              <a:rPr lang="en-US" sz="1000" b="1" dirty="0">
                <a:solidFill>
                  <a:srgbClr val="1A2547"/>
                </a:solidFill>
                <a:latin typeface="Calibri" pitchFamily="34" charset="0"/>
                <a:ea typeface="Calibri" pitchFamily="34" charset="-122"/>
                <a:cs typeface="Calibri" pitchFamily="34" charset="-120"/>
              </a:rPr>
              <a:t>Steel</a:t>
            </a:r>
            <a:endParaRPr lang="en-US" sz="1000" dirty="0"/>
          </a:p>
        </p:txBody>
      </p:sp>
      <p:sp>
        <p:nvSpPr>
          <p:cNvPr id="20" name="Shape 18"/>
          <p:cNvSpPr/>
          <p:nvPr/>
        </p:nvSpPr>
        <p:spPr>
          <a:xfrm>
            <a:off x="1600200" y="1444752"/>
            <a:ext cx="1737360" cy="585216"/>
          </a:xfrm>
          <a:prstGeom prst="rect">
            <a:avLst/>
          </a:prstGeom>
          <a:solidFill>
            <a:srgbClr val="F4F7FC"/>
          </a:solidFill>
          <a:ln w="6350">
            <a:solidFill>
              <a:srgbClr val="E4ECF5"/>
            </a:solidFill>
            <a:prstDash val="solid"/>
          </a:ln>
        </p:spPr>
      </p:sp>
      <p:sp>
        <p:nvSpPr>
          <p:cNvPr id="21" name="Text 19"/>
          <p:cNvSpPr/>
          <p:nvPr/>
        </p:nvSpPr>
        <p:spPr>
          <a:xfrm>
            <a:off x="1645920" y="1536192"/>
            <a:ext cx="164592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&lt; 0.001</a:t>
            </a:r>
            <a:endParaRPr lang="en-US" sz="1000" dirty="0"/>
          </a:p>
        </p:txBody>
      </p:sp>
      <p:sp>
        <p:nvSpPr>
          <p:cNvPr id="22" name="Shape 20"/>
          <p:cNvSpPr/>
          <p:nvPr/>
        </p:nvSpPr>
        <p:spPr>
          <a:xfrm>
            <a:off x="3337560" y="1444752"/>
            <a:ext cx="1874520" cy="585216"/>
          </a:xfrm>
          <a:prstGeom prst="rect">
            <a:avLst/>
          </a:prstGeom>
          <a:solidFill>
            <a:srgbClr val="F4F7FC"/>
          </a:solidFill>
          <a:ln w="6350">
            <a:solidFill>
              <a:srgbClr val="E4ECF5"/>
            </a:solidFill>
            <a:prstDash val="solid"/>
          </a:ln>
        </p:spPr>
      </p:sp>
      <p:sp>
        <p:nvSpPr>
          <p:cNvPr id="23" name="Text 21"/>
          <p:cNvSpPr/>
          <p:nvPr/>
        </p:nvSpPr>
        <p:spPr>
          <a:xfrm>
            <a:off x="3383280" y="1536192"/>
            <a:ext cx="178308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−$1.64M/month</a:t>
            </a:r>
            <a:endParaRPr lang="en-US" sz="1000" dirty="0"/>
          </a:p>
        </p:txBody>
      </p:sp>
      <p:sp>
        <p:nvSpPr>
          <p:cNvPr id="24" name="Shape 22"/>
          <p:cNvSpPr/>
          <p:nvPr/>
        </p:nvSpPr>
        <p:spPr>
          <a:xfrm>
            <a:off x="5212080" y="1444752"/>
            <a:ext cx="1371600" cy="585216"/>
          </a:xfrm>
          <a:prstGeom prst="rect">
            <a:avLst/>
          </a:prstGeom>
          <a:solidFill>
            <a:srgbClr val="F4F7FC"/>
          </a:solidFill>
          <a:ln w="6350">
            <a:solidFill>
              <a:srgbClr val="E4ECF5"/>
            </a:solidFill>
            <a:prstDash val="solid"/>
          </a:ln>
        </p:spPr>
      </p:sp>
      <p:sp>
        <p:nvSpPr>
          <p:cNvPr id="25" name="Text 23"/>
          <p:cNvSpPr/>
          <p:nvPr/>
        </p:nvSpPr>
        <p:spPr>
          <a:xfrm>
            <a:off x="5257800" y="1536192"/>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$1.28M</a:t>
            </a:r>
            <a:endParaRPr lang="en-US" sz="1000" dirty="0"/>
          </a:p>
        </p:txBody>
      </p:sp>
      <p:sp>
        <p:nvSpPr>
          <p:cNvPr id="26" name="Shape 24"/>
          <p:cNvSpPr/>
          <p:nvPr/>
        </p:nvSpPr>
        <p:spPr>
          <a:xfrm>
            <a:off x="6583680" y="1444752"/>
            <a:ext cx="1371600" cy="585216"/>
          </a:xfrm>
          <a:prstGeom prst="rect">
            <a:avLst/>
          </a:prstGeom>
          <a:solidFill>
            <a:srgbClr val="F4F7FC"/>
          </a:solidFill>
          <a:ln w="6350">
            <a:solidFill>
              <a:srgbClr val="E4ECF5"/>
            </a:solidFill>
            <a:prstDash val="solid"/>
          </a:ln>
        </p:spPr>
      </p:sp>
      <p:sp>
        <p:nvSpPr>
          <p:cNvPr id="27" name="Text 25"/>
          <p:cNvSpPr/>
          <p:nvPr/>
        </p:nvSpPr>
        <p:spPr>
          <a:xfrm>
            <a:off x="6629400" y="1536192"/>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$2.92M</a:t>
            </a:r>
            <a:endParaRPr lang="en-US" sz="1000" dirty="0"/>
          </a:p>
        </p:txBody>
      </p:sp>
      <p:sp>
        <p:nvSpPr>
          <p:cNvPr id="28" name="Shape 26"/>
          <p:cNvSpPr/>
          <p:nvPr/>
        </p:nvSpPr>
        <p:spPr>
          <a:xfrm>
            <a:off x="7955280" y="1444752"/>
            <a:ext cx="1554480" cy="585216"/>
          </a:xfrm>
          <a:prstGeom prst="rect">
            <a:avLst/>
          </a:prstGeom>
          <a:solidFill>
            <a:srgbClr val="E8F5EE"/>
          </a:solidFill>
          <a:ln w="6350">
            <a:solidFill>
              <a:srgbClr val="E4ECF5"/>
            </a:solidFill>
            <a:prstDash val="solid"/>
          </a:ln>
        </p:spPr>
      </p:sp>
      <p:sp>
        <p:nvSpPr>
          <p:cNvPr id="29" name="Text 27"/>
          <p:cNvSpPr/>
          <p:nvPr/>
        </p:nvSpPr>
        <p:spPr>
          <a:xfrm>
            <a:off x="8001000" y="1536192"/>
            <a:ext cx="1463040" cy="402336"/>
          </a:xfrm>
          <a:prstGeom prst="rect">
            <a:avLst/>
          </a:prstGeom>
          <a:noFill/>
          <a:ln/>
        </p:spPr>
        <p:txBody>
          <a:bodyPr wrap="square" lIns="0" tIns="0" rIns="0" bIns="0" rtlCol="0" anchor="ctr"/>
          <a:lstStyle/>
          <a:p>
            <a:pPr algn="ctr" indent="0" marL="0">
              <a:buNone/>
            </a:pPr>
            <a:r>
              <a:rPr lang="en-US" sz="900" b="1" dirty="0">
                <a:solidFill>
                  <a:srgbClr val="2A9D5C"/>
                </a:solidFill>
                <a:latin typeface="Calibri" pitchFamily="34" charset="0"/>
                <a:ea typeface="Calibri" pitchFamily="34" charset="-122"/>
                <a:cs typeface="Calibri" pitchFamily="34" charset="-120"/>
              </a:rPr>
              <a:t>REJECT H₀</a:t>
            </a:r>
            <a:endParaRPr lang="en-US" sz="900" dirty="0"/>
          </a:p>
        </p:txBody>
      </p:sp>
      <p:sp>
        <p:nvSpPr>
          <p:cNvPr id="30" name="Shape 28"/>
          <p:cNvSpPr/>
          <p:nvPr/>
        </p:nvSpPr>
        <p:spPr>
          <a:xfrm>
            <a:off x="320040" y="2103120"/>
            <a:ext cx="1280160" cy="585216"/>
          </a:xfrm>
          <a:prstGeom prst="rect">
            <a:avLst/>
          </a:prstGeom>
          <a:solidFill>
            <a:srgbClr val="FFFFFF"/>
          </a:solidFill>
          <a:ln w="6350">
            <a:solidFill>
              <a:srgbClr val="E4ECF5"/>
            </a:solidFill>
            <a:prstDash val="solid"/>
          </a:ln>
        </p:spPr>
      </p:sp>
      <p:sp>
        <p:nvSpPr>
          <p:cNvPr id="31" name="Text 29"/>
          <p:cNvSpPr/>
          <p:nvPr/>
        </p:nvSpPr>
        <p:spPr>
          <a:xfrm>
            <a:off x="365760" y="2194560"/>
            <a:ext cx="1188720" cy="402336"/>
          </a:xfrm>
          <a:prstGeom prst="rect">
            <a:avLst/>
          </a:prstGeom>
          <a:noFill/>
          <a:ln/>
        </p:spPr>
        <p:txBody>
          <a:bodyPr wrap="square" lIns="0" tIns="0" rIns="0" bIns="0" rtlCol="0" anchor="ctr"/>
          <a:lstStyle/>
          <a:p>
            <a:pPr algn="ctr" indent="0" marL="0">
              <a:buNone/>
            </a:pPr>
            <a:r>
              <a:rPr lang="en-US" sz="1000" b="1" dirty="0">
                <a:solidFill>
                  <a:srgbClr val="1A2547"/>
                </a:solidFill>
                <a:latin typeface="Calibri" pitchFamily="34" charset="0"/>
                <a:ea typeface="Calibri" pitchFamily="34" charset="-122"/>
                <a:cs typeface="Calibri" pitchFamily="34" charset="-120"/>
              </a:rPr>
              <a:t>Aluminum</a:t>
            </a:r>
            <a:endParaRPr lang="en-US" sz="1000" dirty="0"/>
          </a:p>
        </p:txBody>
      </p:sp>
      <p:sp>
        <p:nvSpPr>
          <p:cNvPr id="32" name="Shape 30"/>
          <p:cNvSpPr/>
          <p:nvPr/>
        </p:nvSpPr>
        <p:spPr>
          <a:xfrm>
            <a:off x="1600200" y="2103120"/>
            <a:ext cx="1737360" cy="585216"/>
          </a:xfrm>
          <a:prstGeom prst="rect">
            <a:avLst/>
          </a:prstGeom>
          <a:solidFill>
            <a:srgbClr val="FFFFFF"/>
          </a:solidFill>
          <a:ln w="6350">
            <a:solidFill>
              <a:srgbClr val="E4ECF5"/>
            </a:solidFill>
            <a:prstDash val="solid"/>
          </a:ln>
        </p:spPr>
      </p:sp>
      <p:sp>
        <p:nvSpPr>
          <p:cNvPr id="33" name="Text 31"/>
          <p:cNvSpPr/>
          <p:nvPr/>
        </p:nvSpPr>
        <p:spPr>
          <a:xfrm>
            <a:off x="1645920" y="2194560"/>
            <a:ext cx="164592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1.000</a:t>
            </a:r>
            <a:endParaRPr lang="en-US" sz="1000" dirty="0"/>
          </a:p>
        </p:txBody>
      </p:sp>
      <p:sp>
        <p:nvSpPr>
          <p:cNvPr id="34" name="Shape 32"/>
          <p:cNvSpPr/>
          <p:nvPr/>
        </p:nvSpPr>
        <p:spPr>
          <a:xfrm>
            <a:off x="3337560" y="2103120"/>
            <a:ext cx="1874520" cy="585216"/>
          </a:xfrm>
          <a:prstGeom prst="rect">
            <a:avLst/>
          </a:prstGeom>
          <a:solidFill>
            <a:srgbClr val="FFFFFF"/>
          </a:solidFill>
          <a:ln w="6350">
            <a:solidFill>
              <a:srgbClr val="E4ECF5"/>
            </a:solidFill>
            <a:prstDash val="solid"/>
          </a:ln>
        </p:spPr>
      </p:sp>
      <p:sp>
        <p:nvSpPr>
          <p:cNvPr id="35" name="Text 33"/>
          <p:cNvSpPr/>
          <p:nvPr/>
        </p:nvSpPr>
        <p:spPr>
          <a:xfrm>
            <a:off x="3383280" y="2194560"/>
            <a:ext cx="178308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+$2.10M/month</a:t>
            </a:r>
            <a:endParaRPr lang="en-US" sz="1000" dirty="0"/>
          </a:p>
        </p:txBody>
      </p:sp>
      <p:sp>
        <p:nvSpPr>
          <p:cNvPr id="36" name="Shape 34"/>
          <p:cNvSpPr/>
          <p:nvPr/>
        </p:nvSpPr>
        <p:spPr>
          <a:xfrm>
            <a:off x="5212080" y="2103120"/>
            <a:ext cx="1371600" cy="585216"/>
          </a:xfrm>
          <a:prstGeom prst="rect">
            <a:avLst/>
          </a:prstGeom>
          <a:solidFill>
            <a:srgbClr val="FFFFFF"/>
          </a:solidFill>
          <a:ln w="6350">
            <a:solidFill>
              <a:srgbClr val="E4ECF5"/>
            </a:solidFill>
            <a:prstDash val="solid"/>
          </a:ln>
        </p:spPr>
      </p:sp>
      <p:sp>
        <p:nvSpPr>
          <p:cNvPr id="37" name="Text 35"/>
          <p:cNvSpPr/>
          <p:nvPr/>
        </p:nvSpPr>
        <p:spPr>
          <a:xfrm>
            <a:off x="5257800" y="2194560"/>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Higher</a:t>
            </a:r>
            <a:endParaRPr lang="en-US" sz="1000" dirty="0"/>
          </a:p>
        </p:txBody>
      </p:sp>
      <p:sp>
        <p:nvSpPr>
          <p:cNvPr id="38" name="Shape 36"/>
          <p:cNvSpPr/>
          <p:nvPr/>
        </p:nvSpPr>
        <p:spPr>
          <a:xfrm>
            <a:off x="6583680" y="2103120"/>
            <a:ext cx="1371600" cy="585216"/>
          </a:xfrm>
          <a:prstGeom prst="rect">
            <a:avLst/>
          </a:prstGeom>
          <a:solidFill>
            <a:srgbClr val="FFFFFF"/>
          </a:solidFill>
          <a:ln w="6350">
            <a:solidFill>
              <a:srgbClr val="E4ECF5"/>
            </a:solidFill>
            <a:prstDash val="solid"/>
          </a:ln>
        </p:spPr>
      </p:sp>
      <p:sp>
        <p:nvSpPr>
          <p:cNvPr id="39" name="Text 37"/>
          <p:cNvSpPr/>
          <p:nvPr/>
        </p:nvSpPr>
        <p:spPr>
          <a:xfrm>
            <a:off x="6629400" y="2194560"/>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Lower</a:t>
            </a:r>
            <a:endParaRPr lang="en-US" sz="1000" dirty="0"/>
          </a:p>
        </p:txBody>
      </p:sp>
      <p:sp>
        <p:nvSpPr>
          <p:cNvPr id="40" name="Shape 38"/>
          <p:cNvSpPr/>
          <p:nvPr/>
        </p:nvSpPr>
        <p:spPr>
          <a:xfrm>
            <a:off x="7955280" y="2103120"/>
            <a:ext cx="1554480" cy="585216"/>
          </a:xfrm>
          <a:prstGeom prst="rect">
            <a:avLst/>
          </a:prstGeom>
          <a:solidFill>
            <a:srgbClr val="FDE8E8"/>
          </a:solidFill>
          <a:ln w="6350">
            <a:solidFill>
              <a:srgbClr val="E4ECF5"/>
            </a:solidFill>
            <a:prstDash val="solid"/>
          </a:ln>
        </p:spPr>
      </p:sp>
      <p:sp>
        <p:nvSpPr>
          <p:cNvPr id="41" name="Text 39"/>
          <p:cNvSpPr/>
          <p:nvPr/>
        </p:nvSpPr>
        <p:spPr>
          <a:xfrm>
            <a:off x="8001000" y="2194560"/>
            <a:ext cx="1463040" cy="402336"/>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FAIL TO REJECT H₀</a:t>
            </a:r>
            <a:endParaRPr lang="en-US" sz="900" dirty="0"/>
          </a:p>
        </p:txBody>
      </p:sp>
      <p:sp>
        <p:nvSpPr>
          <p:cNvPr id="42" name="Shape 40"/>
          <p:cNvSpPr/>
          <p:nvPr/>
        </p:nvSpPr>
        <p:spPr>
          <a:xfrm>
            <a:off x="320040" y="2761488"/>
            <a:ext cx="1280160" cy="585216"/>
          </a:xfrm>
          <a:prstGeom prst="rect">
            <a:avLst/>
          </a:prstGeom>
          <a:solidFill>
            <a:srgbClr val="F4F7FC"/>
          </a:solidFill>
          <a:ln w="6350">
            <a:solidFill>
              <a:srgbClr val="E4ECF5"/>
            </a:solidFill>
            <a:prstDash val="solid"/>
          </a:ln>
        </p:spPr>
      </p:sp>
      <p:sp>
        <p:nvSpPr>
          <p:cNvPr id="43" name="Text 41"/>
          <p:cNvSpPr/>
          <p:nvPr/>
        </p:nvSpPr>
        <p:spPr>
          <a:xfrm>
            <a:off x="365760" y="2852928"/>
            <a:ext cx="1188720" cy="402336"/>
          </a:xfrm>
          <a:prstGeom prst="rect">
            <a:avLst/>
          </a:prstGeom>
          <a:noFill/>
          <a:ln/>
        </p:spPr>
        <p:txBody>
          <a:bodyPr wrap="square" lIns="0" tIns="0" rIns="0" bIns="0" rtlCol="0" anchor="ctr"/>
          <a:lstStyle/>
          <a:p>
            <a:pPr algn="ctr" indent="0" marL="0">
              <a:buNone/>
            </a:pPr>
            <a:r>
              <a:rPr lang="en-US" sz="1000" b="1" dirty="0">
                <a:solidFill>
                  <a:srgbClr val="1A2547"/>
                </a:solidFill>
                <a:latin typeface="Calibri" pitchFamily="34" charset="0"/>
                <a:ea typeface="Calibri" pitchFamily="34" charset="-122"/>
                <a:cs typeface="Calibri" pitchFamily="34" charset="-120"/>
              </a:rPr>
              <a:t>Automobiles</a:t>
            </a:r>
            <a:endParaRPr lang="en-US" sz="1000" dirty="0"/>
          </a:p>
        </p:txBody>
      </p:sp>
      <p:sp>
        <p:nvSpPr>
          <p:cNvPr id="44" name="Shape 42"/>
          <p:cNvSpPr/>
          <p:nvPr/>
        </p:nvSpPr>
        <p:spPr>
          <a:xfrm>
            <a:off x="1600200" y="2761488"/>
            <a:ext cx="1737360" cy="585216"/>
          </a:xfrm>
          <a:prstGeom prst="rect">
            <a:avLst/>
          </a:prstGeom>
          <a:solidFill>
            <a:srgbClr val="F4F7FC"/>
          </a:solidFill>
          <a:ln w="6350">
            <a:solidFill>
              <a:srgbClr val="E4ECF5"/>
            </a:solidFill>
            <a:prstDash val="solid"/>
          </a:ln>
        </p:spPr>
      </p:sp>
      <p:sp>
        <p:nvSpPr>
          <p:cNvPr id="45" name="Text 43"/>
          <p:cNvSpPr/>
          <p:nvPr/>
        </p:nvSpPr>
        <p:spPr>
          <a:xfrm>
            <a:off x="1645920" y="2852928"/>
            <a:ext cx="164592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0.771</a:t>
            </a:r>
            <a:endParaRPr lang="en-US" sz="1000" dirty="0"/>
          </a:p>
        </p:txBody>
      </p:sp>
      <p:sp>
        <p:nvSpPr>
          <p:cNvPr id="46" name="Shape 44"/>
          <p:cNvSpPr/>
          <p:nvPr/>
        </p:nvSpPr>
        <p:spPr>
          <a:xfrm>
            <a:off x="3337560" y="2761488"/>
            <a:ext cx="1874520" cy="585216"/>
          </a:xfrm>
          <a:prstGeom prst="rect">
            <a:avLst/>
          </a:prstGeom>
          <a:solidFill>
            <a:srgbClr val="F4F7FC"/>
          </a:solidFill>
          <a:ln w="6350">
            <a:solidFill>
              <a:srgbClr val="E4ECF5"/>
            </a:solidFill>
            <a:prstDash val="solid"/>
          </a:ln>
        </p:spPr>
      </p:sp>
      <p:sp>
        <p:nvSpPr>
          <p:cNvPr id="47" name="Text 45"/>
          <p:cNvSpPr/>
          <p:nvPr/>
        </p:nvSpPr>
        <p:spPr>
          <a:xfrm>
            <a:off x="3383280" y="2852928"/>
            <a:ext cx="178308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+$3.35M/month (n.s.)</a:t>
            </a:r>
            <a:endParaRPr lang="en-US" sz="1000" dirty="0"/>
          </a:p>
        </p:txBody>
      </p:sp>
      <p:sp>
        <p:nvSpPr>
          <p:cNvPr id="48" name="Shape 46"/>
          <p:cNvSpPr/>
          <p:nvPr/>
        </p:nvSpPr>
        <p:spPr>
          <a:xfrm>
            <a:off x="5212080" y="2761488"/>
            <a:ext cx="1371600" cy="585216"/>
          </a:xfrm>
          <a:prstGeom prst="rect">
            <a:avLst/>
          </a:prstGeom>
          <a:solidFill>
            <a:srgbClr val="F4F7FC"/>
          </a:solidFill>
          <a:ln w="6350">
            <a:solidFill>
              <a:srgbClr val="E4ECF5"/>
            </a:solidFill>
            <a:prstDash val="solid"/>
          </a:ln>
        </p:spPr>
      </p:sp>
      <p:sp>
        <p:nvSpPr>
          <p:cNvPr id="49" name="Text 47"/>
          <p:cNvSpPr/>
          <p:nvPr/>
        </p:nvSpPr>
        <p:spPr>
          <a:xfrm>
            <a:off x="5257800" y="2852928"/>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No change</a:t>
            </a:r>
            <a:endParaRPr lang="en-US" sz="1000" dirty="0"/>
          </a:p>
        </p:txBody>
      </p:sp>
      <p:sp>
        <p:nvSpPr>
          <p:cNvPr id="50" name="Shape 48"/>
          <p:cNvSpPr/>
          <p:nvPr/>
        </p:nvSpPr>
        <p:spPr>
          <a:xfrm>
            <a:off x="6583680" y="2761488"/>
            <a:ext cx="1371600" cy="585216"/>
          </a:xfrm>
          <a:prstGeom prst="rect">
            <a:avLst/>
          </a:prstGeom>
          <a:solidFill>
            <a:srgbClr val="F4F7FC"/>
          </a:solidFill>
          <a:ln w="6350">
            <a:solidFill>
              <a:srgbClr val="E4ECF5"/>
            </a:solidFill>
            <a:prstDash val="solid"/>
          </a:ln>
        </p:spPr>
      </p:sp>
      <p:sp>
        <p:nvSpPr>
          <p:cNvPr id="51" name="Text 49"/>
          <p:cNvSpPr/>
          <p:nvPr/>
        </p:nvSpPr>
        <p:spPr>
          <a:xfrm>
            <a:off x="6629400" y="2852928"/>
            <a:ext cx="1280160" cy="402336"/>
          </a:xfrm>
          <a:prstGeom prst="rect">
            <a:avLst/>
          </a:prstGeom>
          <a:noFill/>
          <a:ln/>
        </p:spPr>
        <p:txBody>
          <a:bodyPr wrap="square" lIns="0" tIns="0" rIns="0" bIns="0" rtlCol="0" anchor="ctr"/>
          <a:lstStyle/>
          <a:p>
            <a:pPr algn="ctr" indent="0" marL="0">
              <a:buNone/>
            </a:pPr>
            <a:r>
              <a:rPr lang="en-US" sz="1000" dirty="0">
                <a:solidFill>
                  <a:srgbClr val="1A2547"/>
                </a:solidFill>
                <a:latin typeface="Calibri" pitchFamily="34" charset="0"/>
                <a:ea typeface="Calibri" pitchFamily="34" charset="-122"/>
                <a:cs typeface="Calibri" pitchFamily="34" charset="-120"/>
              </a:rPr>
              <a:t>No change</a:t>
            </a:r>
            <a:endParaRPr lang="en-US" sz="1000" dirty="0"/>
          </a:p>
        </p:txBody>
      </p:sp>
      <p:sp>
        <p:nvSpPr>
          <p:cNvPr id="52" name="Shape 50"/>
          <p:cNvSpPr/>
          <p:nvPr/>
        </p:nvSpPr>
        <p:spPr>
          <a:xfrm>
            <a:off x="7955280" y="2761488"/>
            <a:ext cx="1554480" cy="585216"/>
          </a:xfrm>
          <a:prstGeom prst="rect">
            <a:avLst/>
          </a:prstGeom>
          <a:solidFill>
            <a:srgbClr val="FDE8E8"/>
          </a:solidFill>
          <a:ln w="6350">
            <a:solidFill>
              <a:srgbClr val="E4ECF5"/>
            </a:solidFill>
            <a:prstDash val="solid"/>
          </a:ln>
        </p:spPr>
      </p:sp>
      <p:sp>
        <p:nvSpPr>
          <p:cNvPr id="53" name="Text 51"/>
          <p:cNvSpPr/>
          <p:nvPr/>
        </p:nvSpPr>
        <p:spPr>
          <a:xfrm>
            <a:off x="8001000" y="2852928"/>
            <a:ext cx="1463040" cy="402336"/>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FAIL TO REJECT H₀</a:t>
            </a:r>
            <a:endParaRPr lang="en-US" sz="900" dirty="0"/>
          </a:p>
        </p:txBody>
      </p:sp>
      <p:sp>
        <p:nvSpPr>
          <p:cNvPr id="54" name="Shape 52"/>
          <p:cNvSpPr/>
          <p:nvPr/>
        </p:nvSpPr>
        <p:spPr>
          <a:xfrm>
            <a:off x="320040" y="3493008"/>
            <a:ext cx="8503920" cy="1115568"/>
          </a:xfrm>
          <a:prstGeom prst="rect">
            <a:avLst/>
          </a:prstGeom>
          <a:solidFill>
            <a:srgbClr val="EEF3FB"/>
          </a:solidFill>
          <a:ln w="19050">
            <a:solidFill>
              <a:srgbClr val="065A82"/>
            </a:solidFill>
            <a:prstDash val="solid"/>
          </a:ln>
          <a:effectLst>
            <a:outerShdw sx="100000" sy="100000" kx="0" ky="0" algn="bl" rotWithShape="0" blurRad="101600" dist="38100" dir="8100000">
              <a:srgbClr val="000000">
                <a:alpha val="13000"/>
              </a:srgbClr>
            </a:outerShdw>
          </a:effectLst>
        </p:spPr>
      </p:sp>
      <p:sp>
        <p:nvSpPr>
          <p:cNvPr id="55" name="Text 53"/>
          <p:cNvSpPr/>
          <p:nvPr/>
        </p:nvSpPr>
        <p:spPr>
          <a:xfrm>
            <a:off x="502920" y="3566160"/>
            <a:ext cx="182880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Key Takeaway:</a:t>
            </a:r>
            <a:endParaRPr lang="en-US" sz="1100" dirty="0"/>
          </a:p>
        </p:txBody>
      </p:sp>
      <p:sp>
        <p:nvSpPr>
          <p:cNvPr id="56" name="Text 54"/>
          <p:cNvSpPr/>
          <p:nvPr/>
        </p:nvSpPr>
        <p:spPr>
          <a:xfrm>
            <a:off x="502920" y="3840480"/>
            <a:ext cx="8229600" cy="658368"/>
          </a:xfrm>
          <a:prstGeom prst="rect">
            <a:avLst/>
          </a:prstGeom>
          <a:noFill/>
          <a:ln/>
        </p:spPr>
        <p:txBody>
          <a:bodyPr wrap="square" lIns="0" tIns="0" rIns="0" bIns="0" rtlCol="0" anchor="ctr"/>
          <a:lstStyle/>
          <a:p>
            <a:pPr indent="0" marL="0">
              <a:buNone/>
            </a:pPr>
            <a:r>
              <a:rPr lang="en-US" sz="1000" dirty="0">
                <a:solidFill>
                  <a:srgbClr val="1A2547"/>
                </a:solidFill>
                <a:latin typeface="Calibri" pitchFamily="34" charset="0"/>
                <a:ea typeface="Calibri" pitchFamily="34" charset="-122"/>
                <a:cs typeface="Calibri" pitchFamily="34" charset="-120"/>
              </a:rPr>
              <a:t>The null hypothesis was rejected for steel only. Counter-tariff actions were not uniformly associated with reduced U.S. exports across all sectors. Aluminum and automobile exports did not decline — and aluminum values were actually higher during tariff-active periods — suggesting sector-specific dynamics rather than a broad demand reduction.</a:t>
            </a:r>
            <a:endParaRPr lang="en-US" sz="1000" dirty="0"/>
          </a:p>
        </p:txBody>
      </p:sp>
      <p:sp>
        <p:nvSpPr>
          <p:cNvPr id="57" name="Text 55"/>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86AB"/>
          </a:solidFill>
          <a:ln w="12700">
            <a:solidFill>
              <a:srgbClr val="2E86AB"/>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RQ2: Trade Diversion to Non-U.S. Suppliers</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Did Canada shift sourcing away from U.S. during tariff periods?</a:t>
            </a:r>
            <a:endParaRPr lang="en-US" sz="1200" dirty="0"/>
          </a:p>
        </p:txBody>
      </p:sp>
      <p:sp>
        <p:nvSpPr>
          <p:cNvPr id="6" name="Shape 4"/>
          <p:cNvSpPr/>
          <p:nvPr/>
        </p:nvSpPr>
        <p:spPr>
          <a:xfrm>
            <a:off x="320040" y="1097280"/>
            <a:ext cx="8503920" cy="502920"/>
          </a:xfrm>
          <a:prstGeom prst="rect">
            <a:avLst/>
          </a:prstGeom>
          <a:solidFill>
            <a:srgbClr val="FFF8E1"/>
          </a:solidFill>
          <a:ln w="19050">
            <a:solidFill>
              <a:srgbClr val="E67E22"/>
            </a:solidFill>
            <a:prstDash val="solid"/>
          </a:ln>
        </p:spPr>
      </p:sp>
      <p:sp>
        <p:nvSpPr>
          <p:cNvPr id="7" name="Text 5"/>
          <p:cNvSpPr/>
          <p:nvPr/>
        </p:nvSpPr>
        <p:spPr>
          <a:xfrm>
            <a:off x="502920" y="1161288"/>
            <a:ext cx="8138160" cy="365760"/>
          </a:xfrm>
          <a:prstGeom prst="rect">
            <a:avLst/>
          </a:prstGeom>
          <a:noFill/>
          <a:ln/>
        </p:spPr>
        <p:txBody>
          <a:bodyPr wrap="square" lIns="0" tIns="0" rIns="0" bIns="0" rtlCol="0" anchor="ctr"/>
          <a:lstStyle/>
          <a:p>
            <a:pPr indent="0" marL="0">
              <a:buNone/>
            </a:pPr>
            <a:r>
              <a:rPr lang="en-US" sz="1000" dirty="0">
                <a:solidFill>
                  <a:srgbClr val="1A2547"/>
                </a:solidFill>
                <a:latin typeface="Calibri" pitchFamily="34" charset="0"/>
                <a:ea typeface="Calibri" pitchFamily="34" charset="-122"/>
                <a:cs typeface="Calibri" pitchFamily="34" charset="-120"/>
              </a:rPr>
              <a:t>⚠  Data Limitation: Statistics Canada provides only annual data for the full study period — resulting in only 3 tariff-on observations per sector. This constrains statistical power significantly. Results should be interpreted cautiously.</a:t>
            </a:r>
            <a:endParaRPr lang="en-US" sz="1000" dirty="0"/>
          </a:p>
        </p:txBody>
      </p:sp>
      <p:sp>
        <p:nvSpPr>
          <p:cNvPr id="8" name="Shape 6"/>
          <p:cNvSpPr/>
          <p:nvPr/>
        </p:nvSpPr>
        <p:spPr>
          <a:xfrm>
            <a:off x="320040" y="1719072"/>
            <a:ext cx="8503920" cy="896112"/>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9" name="Shape 7"/>
          <p:cNvSpPr/>
          <p:nvPr/>
        </p:nvSpPr>
        <p:spPr>
          <a:xfrm>
            <a:off x="320040" y="1719072"/>
            <a:ext cx="1097280" cy="896112"/>
          </a:xfrm>
          <a:prstGeom prst="rect">
            <a:avLst/>
          </a:prstGeom>
          <a:solidFill>
            <a:srgbClr val="1E2761"/>
          </a:solidFill>
          <a:ln w="12700">
            <a:solidFill>
              <a:srgbClr val="1E2761"/>
            </a:solidFill>
            <a:prstDash val="solid"/>
          </a:ln>
        </p:spPr>
      </p:sp>
      <p:sp>
        <p:nvSpPr>
          <p:cNvPr id="10" name="Text 8"/>
          <p:cNvSpPr/>
          <p:nvPr/>
        </p:nvSpPr>
        <p:spPr>
          <a:xfrm>
            <a:off x="320040" y="1993392"/>
            <a:ext cx="10972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Steel</a:t>
            </a:r>
            <a:endParaRPr lang="en-US" sz="1400" dirty="0"/>
          </a:p>
        </p:txBody>
      </p:sp>
      <p:sp>
        <p:nvSpPr>
          <p:cNvPr id="11" name="Text 9"/>
          <p:cNvSpPr/>
          <p:nvPr/>
        </p:nvSpPr>
        <p:spPr>
          <a:xfrm>
            <a:off x="1508760" y="181051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M-W p-value</a:t>
            </a:r>
            <a:endParaRPr lang="en-US" sz="900" dirty="0"/>
          </a:p>
        </p:txBody>
      </p:sp>
      <p:sp>
        <p:nvSpPr>
          <p:cNvPr id="12" name="Text 10"/>
          <p:cNvSpPr/>
          <p:nvPr/>
        </p:nvSpPr>
        <p:spPr>
          <a:xfrm>
            <a:off x="1508760" y="201168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0.442</a:t>
            </a:r>
            <a:endParaRPr lang="en-US" sz="1100" dirty="0"/>
          </a:p>
        </p:txBody>
      </p:sp>
      <p:sp>
        <p:nvSpPr>
          <p:cNvPr id="13" name="Text 11"/>
          <p:cNvSpPr/>
          <p:nvPr/>
        </p:nvSpPr>
        <p:spPr>
          <a:xfrm>
            <a:off x="3474720" y="181051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OLS β</a:t>
            </a:r>
            <a:endParaRPr lang="en-US" sz="900" dirty="0"/>
          </a:p>
        </p:txBody>
      </p:sp>
      <p:sp>
        <p:nvSpPr>
          <p:cNvPr id="14" name="Text 12"/>
          <p:cNvSpPr/>
          <p:nvPr/>
        </p:nvSpPr>
        <p:spPr>
          <a:xfrm>
            <a:off x="3474720" y="201168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−$8.88M/yr (n.s.)</a:t>
            </a:r>
            <a:endParaRPr lang="en-US" sz="1100" dirty="0"/>
          </a:p>
        </p:txBody>
      </p:sp>
      <p:sp>
        <p:nvSpPr>
          <p:cNvPr id="15" name="Text 13"/>
          <p:cNvSpPr/>
          <p:nvPr/>
        </p:nvSpPr>
        <p:spPr>
          <a:xfrm>
            <a:off x="5440680" y="181051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R²</a:t>
            </a:r>
            <a:endParaRPr lang="en-US" sz="900" dirty="0"/>
          </a:p>
        </p:txBody>
      </p:sp>
      <p:sp>
        <p:nvSpPr>
          <p:cNvPr id="16" name="Text 14"/>
          <p:cNvSpPr/>
          <p:nvPr/>
        </p:nvSpPr>
        <p:spPr>
          <a:xfrm>
            <a:off x="5440680" y="201168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0.001</a:t>
            </a:r>
            <a:endParaRPr lang="en-US" sz="1100" dirty="0"/>
          </a:p>
        </p:txBody>
      </p:sp>
      <p:sp>
        <p:nvSpPr>
          <p:cNvPr id="17" name="Shape 15"/>
          <p:cNvSpPr/>
          <p:nvPr/>
        </p:nvSpPr>
        <p:spPr>
          <a:xfrm>
            <a:off x="7406640" y="1828800"/>
            <a:ext cx="1280160" cy="347472"/>
          </a:xfrm>
          <a:prstGeom prst="rect">
            <a:avLst/>
          </a:prstGeom>
          <a:solidFill>
            <a:srgbClr val="FDE8E8"/>
          </a:solidFill>
          <a:ln w="12700">
            <a:solidFill>
              <a:srgbClr val="C0392B"/>
            </a:solidFill>
            <a:prstDash val="solid"/>
          </a:ln>
        </p:spPr>
      </p:sp>
      <p:sp>
        <p:nvSpPr>
          <p:cNvPr id="18" name="Text 16"/>
          <p:cNvSpPr/>
          <p:nvPr/>
        </p:nvSpPr>
        <p:spPr>
          <a:xfrm>
            <a:off x="7406640" y="1865376"/>
            <a:ext cx="1280160" cy="274320"/>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FAIL TO REJECT H₀</a:t>
            </a:r>
            <a:endParaRPr lang="en-US" sz="800" dirty="0"/>
          </a:p>
        </p:txBody>
      </p:sp>
      <p:sp>
        <p:nvSpPr>
          <p:cNvPr id="19" name="Text 17"/>
          <p:cNvSpPr/>
          <p:nvPr/>
        </p:nvSpPr>
        <p:spPr>
          <a:xfrm>
            <a:off x="1508760" y="2304288"/>
            <a:ext cx="5760720" cy="256032"/>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No meaningful shift detected. R² near zero — tariff dummy explains virtually no variation.</a:t>
            </a:r>
            <a:endParaRPr lang="en-US" sz="900" dirty="0"/>
          </a:p>
        </p:txBody>
      </p:sp>
      <p:sp>
        <p:nvSpPr>
          <p:cNvPr id="20" name="Shape 18"/>
          <p:cNvSpPr/>
          <p:nvPr/>
        </p:nvSpPr>
        <p:spPr>
          <a:xfrm>
            <a:off x="320040" y="2724912"/>
            <a:ext cx="8503920" cy="896112"/>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21" name="Shape 19"/>
          <p:cNvSpPr/>
          <p:nvPr/>
        </p:nvSpPr>
        <p:spPr>
          <a:xfrm>
            <a:off x="320040" y="2724912"/>
            <a:ext cx="1097280" cy="896112"/>
          </a:xfrm>
          <a:prstGeom prst="rect">
            <a:avLst/>
          </a:prstGeom>
          <a:solidFill>
            <a:srgbClr val="1E2761"/>
          </a:solidFill>
          <a:ln w="12700">
            <a:solidFill>
              <a:srgbClr val="1E2761"/>
            </a:solidFill>
            <a:prstDash val="solid"/>
          </a:ln>
        </p:spPr>
      </p:sp>
      <p:sp>
        <p:nvSpPr>
          <p:cNvPr id="22" name="Text 20"/>
          <p:cNvSpPr/>
          <p:nvPr/>
        </p:nvSpPr>
        <p:spPr>
          <a:xfrm>
            <a:off x="320040" y="2999232"/>
            <a:ext cx="10972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Aluminum</a:t>
            </a:r>
            <a:endParaRPr lang="en-US" sz="1400" dirty="0"/>
          </a:p>
        </p:txBody>
      </p:sp>
      <p:sp>
        <p:nvSpPr>
          <p:cNvPr id="23" name="Text 21"/>
          <p:cNvSpPr/>
          <p:nvPr/>
        </p:nvSpPr>
        <p:spPr>
          <a:xfrm>
            <a:off x="1508760" y="281635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M-W p-value</a:t>
            </a:r>
            <a:endParaRPr lang="en-US" sz="900" dirty="0"/>
          </a:p>
        </p:txBody>
      </p:sp>
      <p:sp>
        <p:nvSpPr>
          <p:cNvPr id="24" name="Text 22"/>
          <p:cNvSpPr/>
          <p:nvPr/>
        </p:nvSpPr>
        <p:spPr>
          <a:xfrm>
            <a:off x="1508760" y="301752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0.146</a:t>
            </a:r>
            <a:endParaRPr lang="en-US" sz="1100" dirty="0"/>
          </a:p>
        </p:txBody>
      </p:sp>
      <p:sp>
        <p:nvSpPr>
          <p:cNvPr id="25" name="Text 23"/>
          <p:cNvSpPr/>
          <p:nvPr/>
        </p:nvSpPr>
        <p:spPr>
          <a:xfrm>
            <a:off x="3474720" y="281635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OLS β</a:t>
            </a:r>
            <a:endParaRPr lang="en-US" sz="900" dirty="0"/>
          </a:p>
        </p:txBody>
      </p:sp>
      <p:sp>
        <p:nvSpPr>
          <p:cNvPr id="26" name="Text 24"/>
          <p:cNvSpPr/>
          <p:nvPr/>
        </p:nvSpPr>
        <p:spPr>
          <a:xfrm>
            <a:off x="3474720" y="301752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+$240.78M/yr (n.s.)</a:t>
            </a:r>
            <a:endParaRPr lang="en-US" sz="1100" dirty="0"/>
          </a:p>
        </p:txBody>
      </p:sp>
      <p:sp>
        <p:nvSpPr>
          <p:cNvPr id="27" name="Text 25"/>
          <p:cNvSpPr/>
          <p:nvPr/>
        </p:nvSpPr>
        <p:spPr>
          <a:xfrm>
            <a:off x="5440680" y="281635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R²</a:t>
            </a:r>
            <a:endParaRPr lang="en-US" sz="900" dirty="0"/>
          </a:p>
        </p:txBody>
      </p:sp>
      <p:sp>
        <p:nvSpPr>
          <p:cNvPr id="28" name="Text 26"/>
          <p:cNvSpPr/>
          <p:nvPr/>
        </p:nvSpPr>
        <p:spPr>
          <a:xfrm>
            <a:off x="5440680" y="301752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0.067</a:t>
            </a:r>
            <a:endParaRPr lang="en-US" sz="1100" dirty="0"/>
          </a:p>
        </p:txBody>
      </p:sp>
      <p:sp>
        <p:nvSpPr>
          <p:cNvPr id="29" name="Shape 27"/>
          <p:cNvSpPr/>
          <p:nvPr/>
        </p:nvSpPr>
        <p:spPr>
          <a:xfrm>
            <a:off x="7406640" y="2834640"/>
            <a:ext cx="1280160" cy="347472"/>
          </a:xfrm>
          <a:prstGeom prst="rect">
            <a:avLst/>
          </a:prstGeom>
          <a:solidFill>
            <a:srgbClr val="FEF3E2"/>
          </a:solidFill>
          <a:ln w="12700">
            <a:solidFill>
              <a:srgbClr val="E67E22"/>
            </a:solidFill>
            <a:prstDash val="solid"/>
          </a:ln>
        </p:spPr>
      </p:sp>
      <p:sp>
        <p:nvSpPr>
          <p:cNvPr id="30" name="Text 28"/>
          <p:cNvSpPr/>
          <p:nvPr/>
        </p:nvSpPr>
        <p:spPr>
          <a:xfrm>
            <a:off x="7406640" y="2871216"/>
            <a:ext cx="1280160" cy="274320"/>
          </a:xfrm>
          <a:prstGeom prst="rect">
            <a:avLst/>
          </a:prstGeom>
          <a:noFill/>
          <a:ln/>
        </p:spPr>
        <p:txBody>
          <a:bodyPr wrap="square" lIns="0" tIns="0" rIns="0" bIns="0" rtlCol="0" anchor="ctr"/>
          <a:lstStyle/>
          <a:p>
            <a:pPr algn="ctr" indent="0" marL="0">
              <a:buNone/>
            </a:pPr>
            <a:r>
              <a:rPr lang="en-US" sz="800" b="1" dirty="0">
                <a:solidFill>
                  <a:srgbClr val="E67E22"/>
                </a:solidFill>
                <a:latin typeface="Calibri" pitchFamily="34" charset="0"/>
                <a:ea typeface="Calibri" pitchFamily="34" charset="-122"/>
                <a:cs typeface="Calibri" pitchFamily="34" charset="-120"/>
              </a:rPr>
              <a:t>FAIL TO REJECT H₀</a:t>
            </a:r>
            <a:endParaRPr lang="en-US" sz="800" dirty="0"/>
          </a:p>
        </p:txBody>
      </p:sp>
      <p:sp>
        <p:nvSpPr>
          <p:cNvPr id="31" name="Text 29"/>
          <p:cNvSpPr/>
          <p:nvPr/>
        </p:nvSpPr>
        <p:spPr>
          <a:xfrm>
            <a:off x="1508760" y="3310128"/>
            <a:ext cx="5760720" cy="256032"/>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Directionally positive — some signal — but falls short of significance. Monthly data needed.</a:t>
            </a:r>
            <a:endParaRPr lang="en-US" sz="900" dirty="0"/>
          </a:p>
        </p:txBody>
      </p:sp>
      <p:sp>
        <p:nvSpPr>
          <p:cNvPr id="32" name="Shape 30"/>
          <p:cNvSpPr/>
          <p:nvPr/>
        </p:nvSpPr>
        <p:spPr>
          <a:xfrm>
            <a:off x="320040" y="3730752"/>
            <a:ext cx="8503920" cy="896112"/>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33" name="Shape 31"/>
          <p:cNvSpPr/>
          <p:nvPr/>
        </p:nvSpPr>
        <p:spPr>
          <a:xfrm>
            <a:off x="320040" y="3730752"/>
            <a:ext cx="1097280" cy="896112"/>
          </a:xfrm>
          <a:prstGeom prst="rect">
            <a:avLst/>
          </a:prstGeom>
          <a:solidFill>
            <a:srgbClr val="1E2761"/>
          </a:solidFill>
          <a:ln w="12700">
            <a:solidFill>
              <a:srgbClr val="1E2761"/>
            </a:solidFill>
            <a:prstDash val="solid"/>
          </a:ln>
        </p:spPr>
      </p:sp>
      <p:sp>
        <p:nvSpPr>
          <p:cNvPr id="34" name="Text 32"/>
          <p:cNvSpPr/>
          <p:nvPr/>
        </p:nvSpPr>
        <p:spPr>
          <a:xfrm>
            <a:off x="320040" y="4005072"/>
            <a:ext cx="10972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Automobiles</a:t>
            </a:r>
            <a:endParaRPr lang="en-US" sz="1400" dirty="0"/>
          </a:p>
        </p:txBody>
      </p:sp>
      <p:sp>
        <p:nvSpPr>
          <p:cNvPr id="35" name="Text 33"/>
          <p:cNvSpPr/>
          <p:nvPr/>
        </p:nvSpPr>
        <p:spPr>
          <a:xfrm>
            <a:off x="1508760" y="382219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M-W p-value</a:t>
            </a:r>
            <a:endParaRPr lang="en-US" sz="900" dirty="0"/>
          </a:p>
        </p:txBody>
      </p:sp>
      <p:sp>
        <p:nvSpPr>
          <p:cNvPr id="36" name="Text 34"/>
          <p:cNvSpPr/>
          <p:nvPr/>
        </p:nvSpPr>
        <p:spPr>
          <a:xfrm>
            <a:off x="1508760" y="402336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0.030</a:t>
            </a:r>
            <a:endParaRPr lang="en-US" sz="1100" dirty="0"/>
          </a:p>
        </p:txBody>
      </p:sp>
      <p:sp>
        <p:nvSpPr>
          <p:cNvPr id="37" name="Text 35"/>
          <p:cNvSpPr/>
          <p:nvPr/>
        </p:nvSpPr>
        <p:spPr>
          <a:xfrm>
            <a:off x="3474720" y="382219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OLS β</a:t>
            </a:r>
            <a:endParaRPr lang="en-US" sz="900" dirty="0"/>
          </a:p>
        </p:txBody>
      </p:sp>
      <p:sp>
        <p:nvSpPr>
          <p:cNvPr id="38" name="Text 36"/>
          <p:cNvSpPr/>
          <p:nvPr/>
        </p:nvSpPr>
        <p:spPr>
          <a:xfrm>
            <a:off x="3474720" y="402336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+$2.02B/yr</a:t>
            </a:r>
            <a:endParaRPr lang="en-US" sz="1100" dirty="0"/>
          </a:p>
        </p:txBody>
      </p:sp>
      <p:sp>
        <p:nvSpPr>
          <p:cNvPr id="39" name="Text 37"/>
          <p:cNvSpPr/>
          <p:nvPr/>
        </p:nvSpPr>
        <p:spPr>
          <a:xfrm>
            <a:off x="5440680" y="3822192"/>
            <a:ext cx="1828800" cy="219456"/>
          </a:xfrm>
          <a:prstGeom prst="rect">
            <a:avLst/>
          </a:prstGeom>
          <a:noFill/>
          <a:ln/>
        </p:spPr>
        <p:txBody>
          <a:bodyPr wrap="square" lIns="0" tIns="0" rIns="0" bIns="0" rtlCol="0" anchor="ctr"/>
          <a:lstStyle/>
          <a:p>
            <a:pPr algn="ctr" indent="0" marL="0">
              <a:buNone/>
            </a:pPr>
            <a:r>
              <a:rPr lang="en-US" sz="900" dirty="0">
                <a:solidFill>
                  <a:srgbClr val="5A6A8A"/>
                </a:solidFill>
                <a:latin typeface="Calibri" pitchFamily="34" charset="0"/>
                <a:ea typeface="Calibri" pitchFamily="34" charset="-122"/>
                <a:cs typeface="Calibri" pitchFamily="34" charset="-120"/>
              </a:rPr>
              <a:t>R²</a:t>
            </a:r>
            <a:endParaRPr lang="en-US" sz="900" dirty="0"/>
          </a:p>
        </p:txBody>
      </p:sp>
      <p:sp>
        <p:nvSpPr>
          <p:cNvPr id="40" name="Text 38"/>
          <p:cNvSpPr/>
          <p:nvPr/>
        </p:nvSpPr>
        <p:spPr>
          <a:xfrm>
            <a:off x="5440680" y="4023360"/>
            <a:ext cx="1828800" cy="274320"/>
          </a:xfrm>
          <a:prstGeom prst="rect">
            <a:avLst/>
          </a:prstGeom>
          <a:noFill/>
          <a:ln/>
        </p:spPr>
        <p:txBody>
          <a:bodyPr wrap="square" lIns="0" tIns="0" rIns="0" bIns="0" rtlCol="0" anchor="ctr"/>
          <a:lstStyle/>
          <a:p>
            <a:pPr algn="ctr" indent="0" marL="0">
              <a:buNone/>
            </a:pPr>
            <a:r>
              <a:rPr lang="en-US" sz="1100" b="1" dirty="0">
                <a:solidFill>
                  <a:srgbClr val="1A2547"/>
                </a:solidFill>
                <a:latin typeface="Calibri" pitchFamily="34" charset="0"/>
                <a:ea typeface="Calibri" pitchFamily="34" charset="-122"/>
                <a:cs typeface="Calibri" pitchFamily="34" charset="-120"/>
              </a:rPr>
              <a:t>0.288</a:t>
            </a:r>
            <a:endParaRPr lang="en-US" sz="1100" dirty="0"/>
          </a:p>
        </p:txBody>
      </p:sp>
      <p:sp>
        <p:nvSpPr>
          <p:cNvPr id="41" name="Shape 39"/>
          <p:cNvSpPr/>
          <p:nvPr/>
        </p:nvSpPr>
        <p:spPr>
          <a:xfrm>
            <a:off x="7406640" y="3840480"/>
            <a:ext cx="1280160" cy="347472"/>
          </a:xfrm>
          <a:prstGeom prst="rect">
            <a:avLst/>
          </a:prstGeom>
          <a:solidFill>
            <a:srgbClr val="E8F5EE"/>
          </a:solidFill>
          <a:ln w="12700">
            <a:solidFill>
              <a:srgbClr val="2A9D5C"/>
            </a:solidFill>
            <a:prstDash val="solid"/>
          </a:ln>
        </p:spPr>
      </p:sp>
      <p:sp>
        <p:nvSpPr>
          <p:cNvPr id="42" name="Text 40"/>
          <p:cNvSpPr/>
          <p:nvPr/>
        </p:nvSpPr>
        <p:spPr>
          <a:xfrm>
            <a:off x="7406640" y="3877056"/>
            <a:ext cx="1280160" cy="274320"/>
          </a:xfrm>
          <a:prstGeom prst="rect">
            <a:avLst/>
          </a:prstGeom>
          <a:noFill/>
          <a:ln/>
        </p:spPr>
        <p:txBody>
          <a:bodyPr wrap="square" lIns="0" tIns="0" rIns="0" bIns="0" rtlCol="0" anchor="ctr"/>
          <a:lstStyle/>
          <a:p>
            <a:pPr algn="ctr" indent="0" marL="0">
              <a:buNone/>
            </a:pPr>
            <a:r>
              <a:rPr lang="en-US" sz="800" b="1" dirty="0">
                <a:solidFill>
                  <a:srgbClr val="2A9D5C"/>
                </a:solidFill>
                <a:latin typeface="Calibri" pitchFamily="34" charset="0"/>
                <a:ea typeface="Calibri" pitchFamily="34" charset="-122"/>
                <a:cs typeface="Calibri" pitchFamily="34" charset="-120"/>
              </a:rPr>
              <a:t>REJECT H₀</a:t>
            </a:r>
            <a:endParaRPr lang="en-US" sz="800" dirty="0"/>
          </a:p>
        </p:txBody>
      </p:sp>
      <p:sp>
        <p:nvSpPr>
          <p:cNvPr id="43" name="Text 41"/>
          <p:cNvSpPr/>
          <p:nvPr/>
        </p:nvSpPr>
        <p:spPr>
          <a:xfrm>
            <a:off x="1508760" y="4315968"/>
            <a:ext cx="5760720" cy="256032"/>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Strongest result in RQ2. Statistically significant under both methods — auto sourcing shows diversion signal.</a:t>
            </a:r>
            <a:endParaRPr lang="en-US" sz="900" dirty="0"/>
          </a:p>
        </p:txBody>
      </p:sp>
      <p:sp>
        <p:nvSpPr>
          <p:cNvPr id="44" name="Text 42"/>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9D5C"/>
          </a:solidFill>
          <a:ln w="12700">
            <a:solidFill>
              <a:srgbClr val="2A9D5C"/>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RQ3: Canada's Exports to the U.S.</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Strongest and most consistent findings across all three sectors</a:t>
            </a:r>
            <a:endParaRPr lang="en-US" sz="1200" dirty="0"/>
          </a:p>
        </p:txBody>
      </p:sp>
      <p:graphicFrame>
        <p:nvGraphicFramePr>
          <p:cNvPr id="6" name="Chart 0" descr=""/>
          <p:cNvGraphicFramePr/>
          <p:nvPr/>
        </p:nvGraphicFramePr>
        <p:xfrm>
          <a:off x="320040" y="1097280"/>
          <a:ext cx="4663440" cy="3383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120640" y="1097280"/>
            <a:ext cx="3703320" cy="329184"/>
          </a:xfrm>
          <a:prstGeom prst="rect">
            <a:avLst/>
          </a:prstGeom>
          <a:noFill/>
          <a:ln/>
        </p:spPr>
        <p:txBody>
          <a:bodyPr wrap="square" lIns="0" tIns="0" rIns="0" bIns="0" rtlCol="0" anchor="ctr"/>
          <a:lstStyle/>
          <a:p>
            <a:pPr indent="0" marL="0">
              <a:buNone/>
            </a:pPr>
            <a:r>
              <a:rPr lang="en-US" sz="1200" b="1" dirty="0">
                <a:solidFill>
                  <a:srgbClr val="2A9D5C"/>
                </a:solidFill>
                <a:latin typeface="Calibri" pitchFamily="34" charset="0"/>
                <a:ea typeface="Calibri" pitchFamily="34" charset="-122"/>
                <a:cs typeface="Calibri" pitchFamily="34" charset="-120"/>
              </a:rPr>
              <a:t>All Three Sectors: Null Hypothesis Rejected</a:t>
            </a:r>
            <a:endParaRPr lang="en-US" sz="1200" dirty="0"/>
          </a:p>
        </p:txBody>
      </p:sp>
      <p:sp>
        <p:nvSpPr>
          <p:cNvPr id="8" name="Shape 5"/>
          <p:cNvSpPr/>
          <p:nvPr/>
        </p:nvSpPr>
        <p:spPr>
          <a:xfrm>
            <a:off x="5120640" y="1481328"/>
            <a:ext cx="3703320" cy="658368"/>
          </a:xfrm>
          <a:prstGeom prst="rect">
            <a:avLst/>
          </a:prstGeom>
          <a:solidFill>
            <a:srgbClr val="E8F5EE"/>
          </a:solidFill>
          <a:ln w="12700">
            <a:solidFill>
              <a:srgbClr val="2A9D5C"/>
            </a:solidFill>
            <a:prstDash val="solid"/>
          </a:ln>
          <a:effectLst>
            <a:outerShdw sx="100000" sy="100000" kx="0" ky="0" algn="bl" rotWithShape="0" blurRad="101600" dist="38100" dir="8100000">
              <a:srgbClr val="000000">
                <a:alpha val="13000"/>
              </a:srgbClr>
            </a:outerShdw>
          </a:effectLst>
        </p:spPr>
      </p:sp>
      <p:sp>
        <p:nvSpPr>
          <p:cNvPr id="9" name="Text 6"/>
          <p:cNvSpPr/>
          <p:nvPr/>
        </p:nvSpPr>
        <p:spPr>
          <a:xfrm>
            <a:off x="5230368" y="1536192"/>
            <a:ext cx="109728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Steel</a:t>
            </a:r>
            <a:endParaRPr lang="en-US" sz="1200" dirty="0"/>
          </a:p>
        </p:txBody>
      </p:sp>
      <p:sp>
        <p:nvSpPr>
          <p:cNvPr id="10" name="Text 7"/>
          <p:cNvSpPr/>
          <p:nvPr/>
        </p:nvSpPr>
        <p:spPr>
          <a:xfrm>
            <a:off x="5230368" y="1828800"/>
            <a:ext cx="137160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p-value: 0.004</a:t>
            </a:r>
            <a:endParaRPr lang="en-US" sz="1000" dirty="0"/>
          </a:p>
        </p:txBody>
      </p:sp>
      <p:sp>
        <p:nvSpPr>
          <p:cNvPr id="11" name="Text 8"/>
          <p:cNvSpPr/>
          <p:nvPr/>
        </p:nvSpPr>
        <p:spPr>
          <a:xfrm>
            <a:off x="6492240" y="1572768"/>
            <a:ext cx="1645920" cy="256032"/>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OLS β: −$6.86M/mo</a:t>
            </a:r>
            <a:endParaRPr lang="en-US" sz="1100" dirty="0"/>
          </a:p>
        </p:txBody>
      </p:sp>
      <p:sp>
        <p:nvSpPr>
          <p:cNvPr id="12" name="Shape 9"/>
          <p:cNvSpPr/>
          <p:nvPr/>
        </p:nvSpPr>
        <p:spPr>
          <a:xfrm>
            <a:off x="6492240" y="1865376"/>
            <a:ext cx="1280160" cy="219456"/>
          </a:xfrm>
          <a:prstGeom prst="rect">
            <a:avLst/>
          </a:prstGeom>
          <a:solidFill>
            <a:srgbClr val="2A9D5C"/>
          </a:solidFill>
          <a:ln w="12700">
            <a:solidFill>
              <a:srgbClr val="2A9D5C"/>
            </a:solidFill>
            <a:prstDash val="solid"/>
          </a:ln>
        </p:spPr>
      </p:sp>
      <p:sp>
        <p:nvSpPr>
          <p:cNvPr id="13" name="Text 10"/>
          <p:cNvSpPr/>
          <p:nvPr/>
        </p:nvSpPr>
        <p:spPr>
          <a:xfrm>
            <a:off x="6492240" y="1883664"/>
            <a:ext cx="128016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REJECT H₀</a:t>
            </a:r>
            <a:endParaRPr lang="en-US" sz="800" dirty="0"/>
          </a:p>
        </p:txBody>
      </p:sp>
      <p:sp>
        <p:nvSpPr>
          <p:cNvPr id="14" name="Shape 11"/>
          <p:cNvSpPr/>
          <p:nvPr/>
        </p:nvSpPr>
        <p:spPr>
          <a:xfrm>
            <a:off x="5120640" y="2231136"/>
            <a:ext cx="3703320" cy="658368"/>
          </a:xfrm>
          <a:prstGeom prst="rect">
            <a:avLst/>
          </a:prstGeom>
          <a:solidFill>
            <a:srgbClr val="E8F5EE"/>
          </a:solidFill>
          <a:ln w="12700">
            <a:solidFill>
              <a:srgbClr val="2A9D5C"/>
            </a:solidFill>
            <a:prstDash val="solid"/>
          </a:ln>
          <a:effectLst>
            <a:outerShdw sx="100000" sy="100000" kx="0" ky="0" algn="bl" rotWithShape="0" blurRad="101600" dist="38100" dir="8100000">
              <a:srgbClr val="000000">
                <a:alpha val="13000"/>
              </a:srgbClr>
            </a:outerShdw>
          </a:effectLst>
        </p:spPr>
      </p:sp>
      <p:sp>
        <p:nvSpPr>
          <p:cNvPr id="15" name="Text 12"/>
          <p:cNvSpPr/>
          <p:nvPr/>
        </p:nvSpPr>
        <p:spPr>
          <a:xfrm>
            <a:off x="5230368" y="2286000"/>
            <a:ext cx="109728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Aluminum</a:t>
            </a:r>
            <a:endParaRPr lang="en-US" sz="1200" dirty="0"/>
          </a:p>
        </p:txBody>
      </p:sp>
      <p:sp>
        <p:nvSpPr>
          <p:cNvPr id="16" name="Text 13"/>
          <p:cNvSpPr/>
          <p:nvPr/>
        </p:nvSpPr>
        <p:spPr>
          <a:xfrm>
            <a:off x="5230368" y="2578608"/>
            <a:ext cx="137160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p-value: 0.046</a:t>
            </a:r>
            <a:endParaRPr lang="en-US" sz="1000" dirty="0"/>
          </a:p>
        </p:txBody>
      </p:sp>
      <p:sp>
        <p:nvSpPr>
          <p:cNvPr id="17" name="Text 14"/>
          <p:cNvSpPr/>
          <p:nvPr/>
        </p:nvSpPr>
        <p:spPr>
          <a:xfrm>
            <a:off x="6492240" y="2322576"/>
            <a:ext cx="1645920" cy="256032"/>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OLS β: −$61.91M/mo</a:t>
            </a:r>
            <a:endParaRPr lang="en-US" sz="1100" dirty="0"/>
          </a:p>
        </p:txBody>
      </p:sp>
      <p:sp>
        <p:nvSpPr>
          <p:cNvPr id="18" name="Shape 15"/>
          <p:cNvSpPr/>
          <p:nvPr/>
        </p:nvSpPr>
        <p:spPr>
          <a:xfrm>
            <a:off x="6492240" y="2615184"/>
            <a:ext cx="1280160" cy="219456"/>
          </a:xfrm>
          <a:prstGeom prst="rect">
            <a:avLst/>
          </a:prstGeom>
          <a:solidFill>
            <a:srgbClr val="2A9D5C"/>
          </a:solidFill>
          <a:ln w="12700">
            <a:solidFill>
              <a:srgbClr val="2A9D5C"/>
            </a:solidFill>
            <a:prstDash val="solid"/>
          </a:ln>
        </p:spPr>
      </p:sp>
      <p:sp>
        <p:nvSpPr>
          <p:cNvPr id="19" name="Text 16"/>
          <p:cNvSpPr/>
          <p:nvPr/>
        </p:nvSpPr>
        <p:spPr>
          <a:xfrm>
            <a:off x="6492240" y="2633472"/>
            <a:ext cx="128016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REJECT H₀</a:t>
            </a:r>
            <a:endParaRPr lang="en-US" sz="800" dirty="0"/>
          </a:p>
        </p:txBody>
      </p:sp>
      <p:sp>
        <p:nvSpPr>
          <p:cNvPr id="20" name="Shape 17"/>
          <p:cNvSpPr/>
          <p:nvPr/>
        </p:nvSpPr>
        <p:spPr>
          <a:xfrm>
            <a:off x="5120640" y="2980944"/>
            <a:ext cx="3703320" cy="658368"/>
          </a:xfrm>
          <a:prstGeom prst="rect">
            <a:avLst/>
          </a:prstGeom>
          <a:solidFill>
            <a:srgbClr val="E8F5EE"/>
          </a:solidFill>
          <a:ln w="12700">
            <a:solidFill>
              <a:srgbClr val="2A9D5C"/>
            </a:solidFill>
            <a:prstDash val="solid"/>
          </a:ln>
          <a:effectLst>
            <a:outerShdw sx="100000" sy="100000" kx="0" ky="0" algn="bl" rotWithShape="0" blurRad="101600" dist="38100" dir="8100000">
              <a:srgbClr val="000000">
                <a:alpha val="13000"/>
              </a:srgbClr>
            </a:outerShdw>
          </a:effectLst>
        </p:spPr>
      </p:sp>
      <p:sp>
        <p:nvSpPr>
          <p:cNvPr id="21" name="Text 18"/>
          <p:cNvSpPr/>
          <p:nvPr/>
        </p:nvSpPr>
        <p:spPr>
          <a:xfrm>
            <a:off x="5230368" y="3035808"/>
            <a:ext cx="109728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Automobiles</a:t>
            </a:r>
            <a:endParaRPr lang="en-US" sz="1200" dirty="0"/>
          </a:p>
        </p:txBody>
      </p:sp>
      <p:sp>
        <p:nvSpPr>
          <p:cNvPr id="22" name="Text 19"/>
          <p:cNvSpPr/>
          <p:nvPr/>
        </p:nvSpPr>
        <p:spPr>
          <a:xfrm>
            <a:off x="5230368" y="3328416"/>
            <a:ext cx="1371600" cy="219456"/>
          </a:xfrm>
          <a:prstGeom prst="rect">
            <a:avLst/>
          </a:prstGeom>
          <a:noFill/>
          <a:ln/>
        </p:spPr>
        <p:txBody>
          <a:bodyPr wrap="square" lIns="0" tIns="0" rIns="0" bIns="0" rtlCol="0" anchor="ctr"/>
          <a:lstStyle/>
          <a:p>
            <a:pPr indent="0" marL="0">
              <a:buNone/>
            </a:pPr>
            <a:r>
              <a:rPr lang="en-US" sz="1000" dirty="0">
                <a:solidFill>
                  <a:srgbClr val="5A6A8A"/>
                </a:solidFill>
                <a:latin typeface="Calibri" pitchFamily="34" charset="0"/>
                <a:ea typeface="Calibri" pitchFamily="34" charset="-122"/>
                <a:cs typeface="Calibri" pitchFamily="34" charset="-120"/>
              </a:rPr>
              <a:t>p-value: &lt; 0.001</a:t>
            </a:r>
            <a:endParaRPr lang="en-US" sz="1000" dirty="0"/>
          </a:p>
        </p:txBody>
      </p:sp>
      <p:sp>
        <p:nvSpPr>
          <p:cNvPr id="23" name="Text 20"/>
          <p:cNvSpPr/>
          <p:nvPr/>
        </p:nvSpPr>
        <p:spPr>
          <a:xfrm>
            <a:off x="6492240" y="3072384"/>
            <a:ext cx="1645920" cy="256032"/>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OLS β: −$745.73M/mo</a:t>
            </a:r>
            <a:endParaRPr lang="en-US" sz="1100" dirty="0"/>
          </a:p>
        </p:txBody>
      </p:sp>
      <p:sp>
        <p:nvSpPr>
          <p:cNvPr id="24" name="Shape 21"/>
          <p:cNvSpPr/>
          <p:nvPr/>
        </p:nvSpPr>
        <p:spPr>
          <a:xfrm>
            <a:off x="6492240" y="3364992"/>
            <a:ext cx="1280160" cy="219456"/>
          </a:xfrm>
          <a:prstGeom prst="rect">
            <a:avLst/>
          </a:prstGeom>
          <a:solidFill>
            <a:srgbClr val="2A9D5C"/>
          </a:solidFill>
          <a:ln w="12700">
            <a:solidFill>
              <a:srgbClr val="2A9D5C"/>
            </a:solidFill>
            <a:prstDash val="solid"/>
          </a:ln>
        </p:spPr>
      </p:sp>
      <p:sp>
        <p:nvSpPr>
          <p:cNvPr id="25" name="Text 22"/>
          <p:cNvSpPr/>
          <p:nvPr/>
        </p:nvSpPr>
        <p:spPr>
          <a:xfrm>
            <a:off x="6492240" y="3383280"/>
            <a:ext cx="128016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REJECT H₀</a:t>
            </a:r>
            <a:endParaRPr lang="en-US" sz="800" dirty="0"/>
          </a:p>
        </p:txBody>
      </p:sp>
      <p:sp>
        <p:nvSpPr>
          <p:cNvPr id="26" name="Shape 23"/>
          <p:cNvSpPr/>
          <p:nvPr/>
        </p:nvSpPr>
        <p:spPr>
          <a:xfrm>
            <a:off x="5120640" y="3730752"/>
            <a:ext cx="3703320" cy="749808"/>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3000"/>
              </a:srgbClr>
            </a:outerShdw>
          </a:effectLst>
        </p:spPr>
      </p:sp>
      <p:sp>
        <p:nvSpPr>
          <p:cNvPr id="27" name="Text 24"/>
          <p:cNvSpPr/>
          <p:nvPr/>
        </p:nvSpPr>
        <p:spPr>
          <a:xfrm>
            <a:off x="5230368" y="3794760"/>
            <a:ext cx="347472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$745M / month</a:t>
            </a:r>
            <a:endParaRPr lang="en-US" sz="2200" dirty="0"/>
          </a:p>
        </p:txBody>
      </p:sp>
      <p:sp>
        <p:nvSpPr>
          <p:cNvPr id="28" name="Text 25"/>
          <p:cNvSpPr/>
          <p:nvPr/>
        </p:nvSpPr>
        <p:spPr>
          <a:xfrm>
            <a:off x="5230368" y="4160520"/>
            <a:ext cx="3474720" cy="256032"/>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Estimated monthly auto export reduction during tariff periods</a:t>
            </a:r>
            <a:endParaRPr lang="en-US" sz="900" dirty="0"/>
          </a:p>
        </p:txBody>
      </p:sp>
      <p:sp>
        <p:nvSpPr>
          <p:cNvPr id="29" name="Text 26"/>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86AB"/>
          </a:solidFill>
          <a:ln w="12700">
            <a:solidFill>
              <a:srgbClr val="2E86AB"/>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Predictive Forecast: 2026–2027</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Two scenarios: Tariffs Remain vs. Tariffs Removed (24-month projection)</a:t>
            </a:r>
            <a:endParaRPr lang="en-US" sz="1200" dirty="0"/>
          </a:p>
        </p:txBody>
      </p:sp>
      <p:graphicFrame>
        <p:nvGraphicFramePr>
          <p:cNvPr id="6" name="Chart 0" descr=""/>
          <p:cNvGraphicFramePr/>
          <p:nvPr/>
        </p:nvGraphicFramePr>
        <p:xfrm>
          <a:off x="320040" y="1097280"/>
          <a:ext cx="5029200" cy="3337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577840" y="1097280"/>
            <a:ext cx="32461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Projected Monthly Gap by Sector</a:t>
            </a:r>
            <a:endParaRPr lang="en-US" sz="1200" dirty="0"/>
          </a:p>
        </p:txBody>
      </p:sp>
      <p:sp>
        <p:nvSpPr>
          <p:cNvPr id="8" name="Text 5"/>
          <p:cNvSpPr/>
          <p:nvPr/>
        </p:nvSpPr>
        <p:spPr>
          <a:xfrm>
            <a:off x="5577840" y="1371600"/>
            <a:ext cx="3246120" cy="219456"/>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(Tariffs Removed minus Tariffs Remain, per month)</a:t>
            </a:r>
            <a:endParaRPr lang="en-US" sz="900" dirty="0"/>
          </a:p>
        </p:txBody>
      </p:sp>
      <p:sp>
        <p:nvSpPr>
          <p:cNvPr id="9" name="Shape 6"/>
          <p:cNvSpPr/>
          <p:nvPr/>
        </p:nvSpPr>
        <p:spPr>
          <a:xfrm>
            <a:off x="5577840" y="1691640"/>
            <a:ext cx="3246120" cy="73152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0" name="Shape 7"/>
          <p:cNvSpPr/>
          <p:nvPr/>
        </p:nvSpPr>
        <p:spPr>
          <a:xfrm>
            <a:off x="5577840" y="1691640"/>
            <a:ext cx="91440" cy="731520"/>
          </a:xfrm>
          <a:prstGeom prst="rect">
            <a:avLst/>
          </a:prstGeom>
          <a:solidFill>
            <a:srgbClr val="2E86AB"/>
          </a:solidFill>
          <a:ln w="12700">
            <a:solidFill>
              <a:srgbClr val="2E86AB"/>
            </a:solidFill>
            <a:prstDash val="solid"/>
          </a:ln>
        </p:spPr>
      </p:sp>
      <p:sp>
        <p:nvSpPr>
          <p:cNvPr id="11" name="Text 8"/>
          <p:cNvSpPr/>
          <p:nvPr/>
        </p:nvSpPr>
        <p:spPr>
          <a:xfrm>
            <a:off x="5742432" y="1746504"/>
            <a:ext cx="2926080" cy="237744"/>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Automobiles</a:t>
            </a:r>
            <a:endParaRPr lang="en-US" sz="1100" dirty="0"/>
          </a:p>
        </p:txBody>
      </p:sp>
      <p:sp>
        <p:nvSpPr>
          <p:cNvPr id="12" name="Text 9"/>
          <p:cNvSpPr/>
          <p:nvPr/>
        </p:nvSpPr>
        <p:spPr>
          <a:xfrm>
            <a:off x="5742432" y="1993392"/>
            <a:ext cx="2926080" cy="237744"/>
          </a:xfrm>
          <a:prstGeom prst="rect">
            <a:avLst/>
          </a:prstGeom>
          <a:noFill/>
          <a:ln/>
        </p:spPr>
        <p:txBody>
          <a:bodyPr wrap="square" lIns="0" tIns="0" rIns="0" bIns="0" rtlCol="0" anchor="ctr"/>
          <a:lstStyle/>
          <a:p>
            <a:pPr indent="0" marL="0">
              <a:buNone/>
            </a:pPr>
            <a:r>
              <a:rPr lang="en-US" sz="1400" b="1" dirty="0">
                <a:solidFill>
                  <a:srgbClr val="2E86AB"/>
                </a:solidFill>
                <a:latin typeface="Calibri" pitchFamily="34" charset="0"/>
                <a:ea typeface="Calibri" pitchFamily="34" charset="-122"/>
                <a:cs typeface="Calibri" pitchFamily="34" charset="-120"/>
              </a:rPr>
              <a:t>~$745M/mo</a:t>
            </a:r>
            <a:endParaRPr lang="en-US" sz="1400" dirty="0"/>
          </a:p>
        </p:txBody>
      </p:sp>
      <p:sp>
        <p:nvSpPr>
          <p:cNvPr id="13" name="Text 10"/>
          <p:cNvSpPr/>
          <p:nvPr/>
        </p:nvSpPr>
        <p:spPr>
          <a:xfrm>
            <a:off x="5742432" y="2212848"/>
            <a:ext cx="2926080" cy="182880"/>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Largest sector; most consequential</a:t>
            </a:r>
            <a:endParaRPr lang="en-US" sz="900" dirty="0"/>
          </a:p>
        </p:txBody>
      </p:sp>
      <p:sp>
        <p:nvSpPr>
          <p:cNvPr id="14" name="Shape 11"/>
          <p:cNvSpPr/>
          <p:nvPr/>
        </p:nvSpPr>
        <p:spPr>
          <a:xfrm>
            <a:off x="5577840" y="2532888"/>
            <a:ext cx="3246120" cy="73152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15" name="Shape 12"/>
          <p:cNvSpPr/>
          <p:nvPr/>
        </p:nvSpPr>
        <p:spPr>
          <a:xfrm>
            <a:off x="5577840" y="2532888"/>
            <a:ext cx="91440" cy="731520"/>
          </a:xfrm>
          <a:prstGeom prst="rect">
            <a:avLst/>
          </a:prstGeom>
          <a:solidFill>
            <a:srgbClr val="E67E22"/>
          </a:solidFill>
          <a:ln w="12700">
            <a:solidFill>
              <a:srgbClr val="E67E22"/>
            </a:solidFill>
            <a:prstDash val="solid"/>
          </a:ln>
        </p:spPr>
      </p:sp>
      <p:sp>
        <p:nvSpPr>
          <p:cNvPr id="16" name="Text 13"/>
          <p:cNvSpPr/>
          <p:nvPr/>
        </p:nvSpPr>
        <p:spPr>
          <a:xfrm>
            <a:off x="5742432" y="2587752"/>
            <a:ext cx="2926080" cy="237744"/>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Aluminum</a:t>
            </a:r>
            <a:endParaRPr lang="en-US" sz="1100" dirty="0"/>
          </a:p>
        </p:txBody>
      </p:sp>
      <p:sp>
        <p:nvSpPr>
          <p:cNvPr id="17" name="Text 14"/>
          <p:cNvSpPr/>
          <p:nvPr/>
        </p:nvSpPr>
        <p:spPr>
          <a:xfrm>
            <a:off x="5742432" y="2834640"/>
            <a:ext cx="2926080" cy="237744"/>
          </a:xfrm>
          <a:prstGeom prst="rect">
            <a:avLst/>
          </a:prstGeom>
          <a:noFill/>
          <a:ln/>
        </p:spPr>
        <p:txBody>
          <a:bodyPr wrap="square" lIns="0" tIns="0" rIns="0" bIns="0" rtlCol="0" anchor="ctr"/>
          <a:lstStyle/>
          <a:p>
            <a:pPr indent="0" marL="0">
              <a:buNone/>
            </a:pPr>
            <a:r>
              <a:rPr lang="en-US" sz="1400" b="1" dirty="0">
                <a:solidFill>
                  <a:srgbClr val="E67E22"/>
                </a:solidFill>
                <a:latin typeface="Calibri" pitchFamily="34" charset="0"/>
                <a:ea typeface="Calibri" pitchFamily="34" charset="-122"/>
                <a:cs typeface="Calibri" pitchFamily="34" charset="-120"/>
              </a:rPr>
              <a:t>~$61.9M/mo</a:t>
            </a:r>
            <a:endParaRPr lang="en-US" sz="1400" dirty="0"/>
          </a:p>
        </p:txBody>
      </p:sp>
      <p:sp>
        <p:nvSpPr>
          <p:cNvPr id="18" name="Text 15"/>
          <p:cNvSpPr/>
          <p:nvPr/>
        </p:nvSpPr>
        <p:spPr>
          <a:xfrm>
            <a:off x="5742432" y="3054096"/>
            <a:ext cx="2926080" cy="182880"/>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OLS beta n.s. — interpret with caution</a:t>
            </a:r>
            <a:endParaRPr lang="en-US" sz="900" dirty="0"/>
          </a:p>
        </p:txBody>
      </p:sp>
      <p:sp>
        <p:nvSpPr>
          <p:cNvPr id="19" name="Shape 16"/>
          <p:cNvSpPr/>
          <p:nvPr/>
        </p:nvSpPr>
        <p:spPr>
          <a:xfrm>
            <a:off x="5577840" y="3374136"/>
            <a:ext cx="3246120" cy="731520"/>
          </a:xfrm>
          <a:prstGeom prst="rect">
            <a:avLst/>
          </a:prstGeom>
          <a:solidFill>
            <a:srgbClr val="FFFFFF"/>
          </a:solidFill>
          <a:ln w="12700">
            <a:solidFill>
              <a:srgbClr val="E4ECF5"/>
            </a:solidFill>
            <a:prstDash val="solid"/>
          </a:ln>
          <a:effectLst>
            <a:outerShdw sx="100000" sy="100000" kx="0" ky="0" algn="bl" rotWithShape="0" blurRad="101600" dist="38100" dir="8100000">
              <a:srgbClr val="000000">
                <a:alpha val="13000"/>
              </a:srgbClr>
            </a:outerShdw>
          </a:effectLst>
        </p:spPr>
      </p:sp>
      <p:sp>
        <p:nvSpPr>
          <p:cNvPr id="20" name="Shape 17"/>
          <p:cNvSpPr/>
          <p:nvPr/>
        </p:nvSpPr>
        <p:spPr>
          <a:xfrm>
            <a:off x="5577840" y="3374136"/>
            <a:ext cx="91440" cy="731520"/>
          </a:xfrm>
          <a:prstGeom prst="rect">
            <a:avLst/>
          </a:prstGeom>
          <a:solidFill>
            <a:srgbClr val="065A82"/>
          </a:solidFill>
          <a:ln w="12700">
            <a:solidFill>
              <a:srgbClr val="065A82"/>
            </a:solidFill>
            <a:prstDash val="solid"/>
          </a:ln>
        </p:spPr>
      </p:sp>
      <p:sp>
        <p:nvSpPr>
          <p:cNvPr id="21" name="Text 18"/>
          <p:cNvSpPr/>
          <p:nvPr/>
        </p:nvSpPr>
        <p:spPr>
          <a:xfrm>
            <a:off x="5742432" y="3429000"/>
            <a:ext cx="2926080" cy="237744"/>
          </a:xfrm>
          <a:prstGeom prst="rect">
            <a:avLst/>
          </a:prstGeom>
          <a:noFill/>
          <a:ln/>
        </p:spPr>
        <p:txBody>
          <a:bodyPr wrap="square" lIns="0" tIns="0" rIns="0" bIns="0" rtlCol="0" anchor="ctr"/>
          <a:lstStyle/>
          <a:p>
            <a:pPr indent="0" marL="0">
              <a:buNone/>
            </a:pPr>
            <a:r>
              <a:rPr lang="en-US" sz="1100" b="1" dirty="0">
                <a:solidFill>
                  <a:srgbClr val="1A2547"/>
                </a:solidFill>
                <a:latin typeface="Calibri" pitchFamily="34" charset="0"/>
                <a:ea typeface="Calibri" pitchFamily="34" charset="-122"/>
                <a:cs typeface="Calibri" pitchFamily="34" charset="-120"/>
              </a:rPr>
              <a:t>Steel</a:t>
            </a:r>
            <a:endParaRPr lang="en-US" sz="1100" dirty="0"/>
          </a:p>
        </p:txBody>
      </p:sp>
      <p:sp>
        <p:nvSpPr>
          <p:cNvPr id="22" name="Text 19"/>
          <p:cNvSpPr/>
          <p:nvPr/>
        </p:nvSpPr>
        <p:spPr>
          <a:xfrm>
            <a:off x="5742432" y="3675888"/>
            <a:ext cx="2926080" cy="237744"/>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~$6.9M/mo</a:t>
            </a:r>
            <a:endParaRPr lang="en-US" sz="1400" dirty="0"/>
          </a:p>
        </p:txBody>
      </p:sp>
      <p:sp>
        <p:nvSpPr>
          <p:cNvPr id="23" name="Text 20"/>
          <p:cNvSpPr/>
          <p:nvPr/>
        </p:nvSpPr>
        <p:spPr>
          <a:xfrm>
            <a:off x="5742432" y="3895344"/>
            <a:ext cx="2926080" cy="182880"/>
          </a:xfrm>
          <a:prstGeom prst="rect">
            <a:avLst/>
          </a:prstGeom>
          <a:noFill/>
          <a:ln/>
        </p:spPr>
        <p:txBody>
          <a:bodyPr wrap="square" lIns="0" tIns="0" rIns="0" bIns="0" rtlCol="0" anchor="ctr"/>
          <a:lstStyle/>
          <a:p>
            <a:pPr indent="0" marL="0">
              <a:buNone/>
            </a:pPr>
            <a:r>
              <a:rPr lang="en-US" sz="900" i="1" dirty="0">
                <a:solidFill>
                  <a:srgbClr val="5A6A8A"/>
                </a:solidFill>
                <a:latin typeface="Calibri" pitchFamily="34" charset="0"/>
                <a:ea typeface="Calibri" pitchFamily="34" charset="-122"/>
                <a:cs typeface="Calibri" pitchFamily="34" charset="-120"/>
              </a:rPr>
              <a:t>Consistent with RQ1 and RQ3 findings</a:t>
            </a:r>
            <a:endParaRPr lang="en-US" sz="900" dirty="0"/>
          </a:p>
        </p:txBody>
      </p:sp>
      <p:sp>
        <p:nvSpPr>
          <p:cNvPr id="24" name="Shape 21"/>
          <p:cNvSpPr/>
          <p:nvPr/>
        </p:nvSpPr>
        <p:spPr>
          <a:xfrm>
            <a:off x="5577840" y="4279392"/>
            <a:ext cx="3246120" cy="457200"/>
          </a:xfrm>
          <a:prstGeom prst="rect">
            <a:avLst/>
          </a:prstGeom>
          <a:solidFill>
            <a:srgbClr val="FFF8E1"/>
          </a:solidFill>
          <a:ln w="12700">
            <a:solidFill>
              <a:srgbClr val="E67E22"/>
            </a:solidFill>
            <a:prstDash val="solid"/>
          </a:ln>
        </p:spPr>
      </p:sp>
      <p:sp>
        <p:nvSpPr>
          <p:cNvPr id="25" name="Text 22"/>
          <p:cNvSpPr/>
          <p:nvPr/>
        </p:nvSpPr>
        <p:spPr>
          <a:xfrm>
            <a:off x="5650992" y="4315968"/>
            <a:ext cx="3090672" cy="384048"/>
          </a:xfrm>
          <a:prstGeom prst="rect">
            <a:avLst/>
          </a:prstGeom>
          <a:noFill/>
          <a:ln/>
        </p:spPr>
        <p:txBody>
          <a:bodyPr wrap="square" lIns="0" tIns="0" rIns="0" bIns="0" rtlCol="0" anchor="ctr"/>
          <a:lstStyle/>
          <a:p>
            <a:pPr indent="0" marL="0">
              <a:buNone/>
            </a:pPr>
            <a:r>
              <a:rPr lang="en-US" sz="900" i="1" dirty="0">
                <a:solidFill>
                  <a:srgbClr val="1A2547"/>
                </a:solidFill>
                <a:latin typeface="Calibri" pitchFamily="34" charset="0"/>
                <a:ea typeface="Calibri" pitchFamily="34" charset="-122"/>
                <a:cs typeface="Calibri" pitchFamily="34" charset="-120"/>
              </a:rPr>
              <a:t>These are illustrative projections — not guaranteed outcomes. Real-world results depend on economic conditions, exchange rates, and policy changes.</a:t>
            </a:r>
            <a:endParaRPr lang="en-US" sz="900" dirty="0"/>
          </a:p>
        </p:txBody>
      </p:sp>
      <p:sp>
        <p:nvSpPr>
          <p:cNvPr id="26" name="Text 23"/>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Shape 1"/>
          <p:cNvSpPr/>
          <p:nvPr/>
        </p:nvSpPr>
        <p:spPr>
          <a:xfrm>
            <a:off x="0" y="685800"/>
            <a:ext cx="9144000" cy="45720"/>
          </a:xfrm>
          <a:prstGeom prst="rect">
            <a:avLst/>
          </a:prstGeom>
          <a:solidFill>
            <a:srgbClr val="2E86AB"/>
          </a:solidFill>
          <a:ln w="12700">
            <a:solidFill>
              <a:srgbClr val="2E86AB"/>
            </a:solidFill>
            <a:prstDash val="solid"/>
          </a:ln>
        </p:spPr>
      </p:sp>
      <p:sp>
        <p:nvSpPr>
          <p:cNvPr id="4" name="Text 2"/>
          <p:cNvSpPr/>
          <p:nvPr/>
        </p:nvSpPr>
        <p:spPr>
          <a:xfrm>
            <a:off x="365760" y="9144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Conclusions &amp; Recommendations</a:t>
            </a:r>
            <a:endParaRPr lang="en-US" sz="2400" dirty="0"/>
          </a:p>
        </p:txBody>
      </p:sp>
      <p:sp>
        <p:nvSpPr>
          <p:cNvPr id="5" name="Text 3"/>
          <p:cNvSpPr/>
          <p:nvPr/>
        </p:nvSpPr>
        <p:spPr>
          <a:xfrm>
            <a:off x="320040" y="841248"/>
            <a:ext cx="41148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Summary of Findings</a:t>
            </a:r>
            <a:endParaRPr lang="en-US" sz="1300" dirty="0"/>
          </a:p>
        </p:txBody>
      </p:sp>
      <p:sp>
        <p:nvSpPr>
          <p:cNvPr id="6" name="Shape 4"/>
          <p:cNvSpPr/>
          <p:nvPr/>
        </p:nvSpPr>
        <p:spPr>
          <a:xfrm>
            <a:off x="320040" y="1170432"/>
            <a:ext cx="4114800" cy="621792"/>
          </a:xfrm>
          <a:prstGeom prst="rect">
            <a:avLst/>
          </a:prstGeom>
          <a:solidFill>
            <a:srgbClr val="065A82">
              <a:alpha val="25000"/>
            </a:srgbClr>
          </a:solidFill>
          <a:ln w="12700">
            <a:solidFill>
              <a:srgbClr val="2E86AB"/>
            </a:solidFill>
            <a:prstDash val="solid"/>
          </a:ln>
        </p:spPr>
      </p:sp>
      <p:sp>
        <p:nvSpPr>
          <p:cNvPr id="7" name="Text 5"/>
          <p:cNvSpPr/>
          <p:nvPr/>
        </p:nvSpPr>
        <p:spPr>
          <a:xfrm>
            <a:off x="411480" y="1225296"/>
            <a:ext cx="502920" cy="256032"/>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RQ1</a:t>
            </a:r>
            <a:endParaRPr lang="en-US" sz="1300" dirty="0"/>
          </a:p>
        </p:txBody>
      </p:sp>
      <p:sp>
        <p:nvSpPr>
          <p:cNvPr id="8" name="Text 6"/>
          <p:cNvSpPr/>
          <p:nvPr/>
        </p:nvSpPr>
        <p:spPr>
          <a:xfrm>
            <a:off x="960120" y="1225296"/>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H₀ rejected — Steel only</a:t>
            </a:r>
            <a:endParaRPr lang="en-US" sz="1100" dirty="0"/>
          </a:p>
        </p:txBody>
      </p:sp>
      <p:sp>
        <p:nvSpPr>
          <p:cNvPr id="9" name="Text 7"/>
          <p:cNvSpPr/>
          <p:nvPr/>
        </p:nvSpPr>
        <p:spPr>
          <a:xfrm>
            <a:off x="960120" y="1499616"/>
            <a:ext cx="3291840" cy="256032"/>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U.S. steel exports to Canada declined significantly; aluminum and autos did not.</a:t>
            </a:r>
            <a:endParaRPr lang="en-US" sz="1000" dirty="0"/>
          </a:p>
        </p:txBody>
      </p:sp>
      <p:sp>
        <p:nvSpPr>
          <p:cNvPr id="10" name="Shape 8"/>
          <p:cNvSpPr/>
          <p:nvPr/>
        </p:nvSpPr>
        <p:spPr>
          <a:xfrm>
            <a:off x="320040" y="1883664"/>
            <a:ext cx="4114800" cy="621792"/>
          </a:xfrm>
          <a:prstGeom prst="rect">
            <a:avLst/>
          </a:prstGeom>
          <a:solidFill>
            <a:srgbClr val="065A82">
              <a:alpha val="25000"/>
            </a:srgbClr>
          </a:solidFill>
          <a:ln w="12700">
            <a:solidFill>
              <a:srgbClr val="2E86AB"/>
            </a:solidFill>
            <a:prstDash val="solid"/>
          </a:ln>
        </p:spPr>
      </p:sp>
      <p:sp>
        <p:nvSpPr>
          <p:cNvPr id="11" name="Text 9"/>
          <p:cNvSpPr/>
          <p:nvPr/>
        </p:nvSpPr>
        <p:spPr>
          <a:xfrm>
            <a:off x="411480" y="1938528"/>
            <a:ext cx="502920" cy="256032"/>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RQ2</a:t>
            </a:r>
            <a:endParaRPr lang="en-US" sz="1300" dirty="0"/>
          </a:p>
        </p:txBody>
      </p:sp>
      <p:sp>
        <p:nvSpPr>
          <p:cNvPr id="12" name="Text 10"/>
          <p:cNvSpPr/>
          <p:nvPr/>
        </p:nvSpPr>
        <p:spPr>
          <a:xfrm>
            <a:off x="960120" y="1938528"/>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H₀ rejected — Autos only</a:t>
            </a:r>
            <a:endParaRPr lang="en-US" sz="1100" dirty="0"/>
          </a:p>
        </p:txBody>
      </p:sp>
      <p:sp>
        <p:nvSpPr>
          <p:cNvPr id="13" name="Text 11"/>
          <p:cNvSpPr/>
          <p:nvPr/>
        </p:nvSpPr>
        <p:spPr>
          <a:xfrm>
            <a:off x="960120" y="2212848"/>
            <a:ext cx="3291840" cy="256032"/>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Auto sourcing shifted to non-U.S. suppliers; limited data constrained steel/aluminum.</a:t>
            </a:r>
            <a:endParaRPr lang="en-US" sz="1000" dirty="0"/>
          </a:p>
        </p:txBody>
      </p:sp>
      <p:sp>
        <p:nvSpPr>
          <p:cNvPr id="14" name="Shape 12"/>
          <p:cNvSpPr/>
          <p:nvPr/>
        </p:nvSpPr>
        <p:spPr>
          <a:xfrm>
            <a:off x="320040" y="2596896"/>
            <a:ext cx="4114800" cy="621792"/>
          </a:xfrm>
          <a:prstGeom prst="rect">
            <a:avLst/>
          </a:prstGeom>
          <a:solidFill>
            <a:srgbClr val="065A82">
              <a:alpha val="25000"/>
            </a:srgbClr>
          </a:solidFill>
          <a:ln w="12700">
            <a:solidFill>
              <a:srgbClr val="2E86AB"/>
            </a:solidFill>
            <a:prstDash val="solid"/>
          </a:ln>
        </p:spPr>
      </p:sp>
      <p:sp>
        <p:nvSpPr>
          <p:cNvPr id="15" name="Text 13"/>
          <p:cNvSpPr/>
          <p:nvPr/>
        </p:nvSpPr>
        <p:spPr>
          <a:xfrm>
            <a:off x="411480" y="2651760"/>
            <a:ext cx="502920" cy="256032"/>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RQ3</a:t>
            </a:r>
            <a:endParaRPr lang="en-US" sz="1300" dirty="0"/>
          </a:p>
        </p:txBody>
      </p:sp>
      <p:sp>
        <p:nvSpPr>
          <p:cNvPr id="16" name="Text 14"/>
          <p:cNvSpPr/>
          <p:nvPr/>
        </p:nvSpPr>
        <p:spPr>
          <a:xfrm>
            <a:off x="960120" y="2651760"/>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H₀ rejected — All 3 sectors</a:t>
            </a:r>
            <a:endParaRPr lang="en-US" sz="1100" dirty="0"/>
          </a:p>
        </p:txBody>
      </p:sp>
      <p:sp>
        <p:nvSpPr>
          <p:cNvPr id="17" name="Text 15"/>
          <p:cNvSpPr/>
          <p:nvPr/>
        </p:nvSpPr>
        <p:spPr>
          <a:xfrm>
            <a:off x="960120" y="2926080"/>
            <a:ext cx="3291840" cy="256032"/>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Canadian exports to the U.S. declined across steel, aluminum, and automobiles.</a:t>
            </a:r>
            <a:endParaRPr lang="en-US" sz="1000" dirty="0"/>
          </a:p>
        </p:txBody>
      </p:sp>
      <p:sp>
        <p:nvSpPr>
          <p:cNvPr id="18" name="Text 16"/>
          <p:cNvSpPr/>
          <p:nvPr/>
        </p:nvSpPr>
        <p:spPr>
          <a:xfrm>
            <a:off x="4709160" y="841248"/>
            <a:ext cx="41148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Recommendations</a:t>
            </a:r>
            <a:endParaRPr lang="en-US" sz="1300" dirty="0"/>
          </a:p>
        </p:txBody>
      </p:sp>
      <p:sp>
        <p:nvSpPr>
          <p:cNvPr id="19" name="Shape 17"/>
          <p:cNvSpPr/>
          <p:nvPr/>
        </p:nvSpPr>
        <p:spPr>
          <a:xfrm>
            <a:off x="4709160" y="1170432"/>
            <a:ext cx="411480" cy="621792"/>
          </a:xfrm>
          <a:prstGeom prst="rect">
            <a:avLst/>
          </a:prstGeom>
          <a:solidFill>
            <a:srgbClr val="2E86AB"/>
          </a:solidFill>
          <a:ln w="12700">
            <a:solidFill>
              <a:srgbClr val="2E86AB"/>
            </a:solidFill>
            <a:prstDash val="solid"/>
          </a:ln>
        </p:spPr>
      </p:sp>
      <p:sp>
        <p:nvSpPr>
          <p:cNvPr id="20" name="Text 18"/>
          <p:cNvSpPr/>
          <p:nvPr/>
        </p:nvSpPr>
        <p:spPr>
          <a:xfrm>
            <a:off x="4709160" y="1335024"/>
            <a:ext cx="411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1" name="Shape 19"/>
          <p:cNvSpPr/>
          <p:nvPr/>
        </p:nvSpPr>
        <p:spPr>
          <a:xfrm>
            <a:off x="5138928" y="1170432"/>
            <a:ext cx="3685032" cy="621792"/>
          </a:xfrm>
          <a:prstGeom prst="rect">
            <a:avLst/>
          </a:prstGeom>
          <a:solidFill>
            <a:srgbClr val="065A82">
              <a:alpha val="20000"/>
            </a:srgbClr>
          </a:solidFill>
          <a:ln w="12700">
            <a:solidFill>
              <a:srgbClr val="2E86AB"/>
            </a:solidFill>
            <a:prstDash val="solid"/>
          </a:ln>
        </p:spPr>
      </p:sp>
      <p:sp>
        <p:nvSpPr>
          <p:cNvPr id="22" name="Text 20"/>
          <p:cNvSpPr/>
          <p:nvPr/>
        </p:nvSpPr>
        <p:spPr>
          <a:xfrm>
            <a:off x="5230368" y="1243584"/>
            <a:ext cx="350215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Automotive stakeholders should closely monitor Canada's export trajectory — $745M/month tariff impact is the most consequential finding in this study.</a:t>
            </a:r>
            <a:endParaRPr lang="en-US" sz="1000" dirty="0"/>
          </a:p>
        </p:txBody>
      </p:sp>
      <p:sp>
        <p:nvSpPr>
          <p:cNvPr id="23" name="Shape 21"/>
          <p:cNvSpPr/>
          <p:nvPr/>
        </p:nvSpPr>
        <p:spPr>
          <a:xfrm>
            <a:off x="4709160" y="1883664"/>
            <a:ext cx="411480" cy="621792"/>
          </a:xfrm>
          <a:prstGeom prst="rect">
            <a:avLst/>
          </a:prstGeom>
          <a:solidFill>
            <a:srgbClr val="065A82"/>
          </a:solidFill>
          <a:ln w="12700">
            <a:solidFill>
              <a:srgbClr val="065A82"/>
            </a:solidFill>
            <a:prstDash val="solid"/>
          </a:ln>
        </p:spPr>
      </p:sp>
      <p:sp>
        <p:nvSpPr>
          <p:cNvPr id="24" name="Text 22"/>
          <p:cNvSpPr/>
          <p:nvPr/>
        </p:nvSpPr>
        <p:spPr>
          <a:xfrm>
            <a:off x="4709160" y="2048256"/>
            <a:ext cx="411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5" name="Shape 23"/>
          <p:cNvSpPr/>
          <p:nvPr/>
        </p:nvSpPr>
        <p:spPr>
          <a:xfrm>
            <a:off x="5138928" y="1883664"/>
            <a:ext cx="3685032" cy="621792"/>
          </a:xfrm>
          <a:prstGeom prst="rect">
            <a:avLst/>
          </a:prstGeom>
          <a:solidFill>
            <a:srgbClr val="065A82">
              <a:alpha val="20000"/>
            </a:srgbClr>
          </a:solidFill>
          <a:ln w="12700">
            <a:solidFill>
              <a:srgbClr val="065A82"/>
            </a:solidFill>
            <a:prstDash val="solid"/>
          </a:ln>
        </p:spPr>
      </p:sp>
      <p:sp>
        <p:nvSpPr>
          <p:cNvPr id="26" name="Text 24"/>
          <p:cNvSpPr/>
          <p:nvPr/>
        </p:nvSpPr>
        <p:spPr>
          <a:xfrm>
            <a:off x="5230368" y="1956816"/>
            <a:ext cx="350215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Steel sector organizations should treat tariff risk as a recurring operational reality and maintain flexible supplier relationships.</a:t>
            </a:r>
            <a:endParaRPr lang="en-US" sz="1000" dirty="0"/>
          </a:p>
        </p:txBody>
      </p:sp>
      <p:sp>
        <p:nvSpPr>
          <p:cNvPr id="27" name="Shape 25"/>
          <p:cNvSpPr/>
          <p:nvPr/>
        </p:nvSpPr>
        <p:spPr>
          <a:xfrm>
            <a:off x="4709160" y="2596896"/>
            <a:ext cx="411480" cy="621792"/>
          </a:xfrm>
          <a:prstGeom prst="rect">
            <a:avLst/>
          </a:prstGeom>
          <a:solidFill>
            <a:srgbClr val="2E86AB"/>
          </a:solidFill>
          <a:ln w="12700">
            <a:solidFill>
              <a:srgbClr val="2E86AB"/>
            </a:solidFill>
            <a:prstDash val="solid"/>
          </a:ln>
        </p:spPr>
      </p:sp>
      <p:sp>
        <p:nvSpPr>
          <p:cNvPr id="28" name="Text 26"/>
          <p:cNvSpPr/>
          <p:nvPr/>
        </p:nvSpPr>
        <p:spPr>
          <a:xfrm>
            <a:off x="4709160" y="2761488"/>
            <a:ext cx="411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9" name="Shape 27"/>
          <p:cNvSpPr/>
          <p:nvPr/>
        </p:nvSpPr>
        <p:spPr>
          <a:xfrm>
            <a:off x="5138928" y="2596896"/>
            <a:ext cx="3685032" cy="621792"/>
          </a:xfrm>
          <a:prstGeom prst="rect">
            <a:avLst/>
          </a:prstGeom>
          <a:solidFill>
            <a:srgbClr val="065A82">
              <a:alpha val="20000"/>
            </a:srgbClr>
          </a:solidFill>
          <a:ln w="12700">
            <a:solidFill>
              <a:srgbClr val="2E86AB"/>
            </a:solidFill>
            <a:prstDash val="solid"/>
          </a:ln>
        </p:spPr>
      </p:sp>
      <p:sp>
        <p:nvSpPr>
          <p:cNvPr id="30" name="Text 28"/>
          <p:cNvSpPr/>
          <p:nvPr/>
        </p:nvSpPr>
        <p:spPr>
          <a:xfrm>
            <a:off x="5230368" y="2670048"/>
            <a:ext cx="350215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Future research should acquire monthly Canadian import data by source country to improve RQ2 statistical power significantly.</a:t>
            </a:r>
            <a:endParaRPr lang="en-US" sz="1000" dirty="0"/>
          </a:p>
        </p:txBody>
      </p:sp>
      <p:sp>
        <p:nvSpPr>
          <p:cNvPr id="31" name="Shape 29"/>
          <p:cNvSpPr/>
          <p:nvPr/>
        </p:nvSpPr>
        <p:spPr>
          <a:xfrm>
            <a:off x="4709160" y="3310128"/>
            <a:ext cx="411480" cy="621792"/>
          </a:xfrm>
          <a:prstGeom prst="rect">
            <a:avLst/>
          </a:prstGeom>
          <a:solidFill>
            <a:srgbClr val="065A82"/>
          </a:solidFill>
          <a:ln w="12700">
            <a:solidFill>
              <a:srgbClr val="065A82"/>
            </a:solidFill>
            <a:prstDash val="solid"/>
          </a:ln>
        </p:spPr>
      </p:sp>
      <p:sp>
        <p:nvSpPr>
          <p:cNvPr id="32" name="Text 30"/>
          <p:cNvSpPr/>
          <p:nvPr/>
        </p:nvSpPr>
        <p:spPr>
          <a:xfrm>
            <a:off x="4709160" y="3474720"/>
            <a:ext cx="411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3" name="Shape 31"/>
          <p:cNvSpPr/>
          <p:nvPr/>
        </p:nvSpPr>
        <p:spPr>
          <a:xfrm>
            <a:off x="5138928" y="3310128"/>
            <a:ext cx="3685032" cy="621792"/>
          </a:xfrm>
          <a:prstGeom prst="rect">
            <a:avLst/>
          </a:prstGeom>
          <a:solidFill>
            <a:srgbClr val="065A82">
              <a:alpha val="20000"/>
            </a:srgbClr>
          </a:solidFill>
          <a:ln w="12700">
            <a:solidFill>
              <a:srgbClr val="065A82"/>
            </a:solidFill>
            <a:prstDash val="solid"/>
          </a:ln>
        </p:spPr>
      </p:sp>
      <p:sp>
        <p:nvSpPr>
          <p:cNvPr id="34" name="Text 32"/>
          <p:cNvSpPr/>
          <p:nvPr/>
        </p:nvSpPr>
        <p:spPr>
          <a:xfrm>
            <a:off x="5230368" y="3383280"/>
            <a:ext cx="350215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Policymakers should weigh the compounding nature of tariff escalation — forecast gaps persist across the full 24-month horizon.</a:t>
            </a:r>
            <a:endParaRPr lang="en-US" sz="1000" dirty="0"/>
          </a:p>
        </p:txBody>
      </p:sp>
      <p:sp>
        <p:nvSpPr>
          <p:cNvPr id="35" name="Shape 33"/>
          <p:cNvSpPr/>
          <p:nvPr/>
        </p:nvSpPr>
        <p:spPr>
          <a:xfrm>
            <a:off x="0" y="4645152"/>
            <a:ext cx="9144000" cy="498348"/>
          </a:xfrm>
          <a:prstGeom prst="rect">
            <a:avLst/>
          </a:prstGeom>
          <a:solidFill>
            <a:srgbClr val="065A82"/>
          </a:solidFill>
          <a:ln w="12700">
            <a:solidFill>
              <a:srgbClr val="065A82"/>
            </a:solidFill>
            <a:prstDash val="solid"/>
          </a:ln>
        </p:spPr>
      </p:sp>
      <p:sp>
        <p:nvSpPr>
          <p:cNvPr id="36" name="Text 34"/>
          <p:cNvSpPr/>
          <p:nvPr/>
        </p:nvSpPr>
        <p:spPr>
          <a:xfrm>
            <a:off x="320040" y="4681728"/>
            <a:ext cx="8503920" cy="384048"/>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Results represent evidence of association between tariff periods and trade outcomes — not definitive causal proof. Exchange rates, inflation, COVID-19, and macroeconomic conditions all contribute to trade variation and are not fully controlled in this analysis.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Shape 1"/>
          <p:cNvSpPr/>
          <p:nvPr/>
        </p:nvSpPr>
        <p:spPr>
          <a:xfrm>
            <a:off x="201168" y="0"/>
            <a:ext cx="8942832" cy="1005840"/>
          </a:xfrm>
          <a:prstGeom prst="rect">
            <a:avLst/>
          </a:prstGeom>
          <a:solidFill>
            <a:srgbClr val="1E2761"/>
          </a:solidFill>
          <a:ln w="12700">
            <a:solidFill>
              <a:srgbClr val="1E2761"/>
            </a:solidFill>
            <a:prstDash val="solid"/>
          </a:ln>
        </p:spPr>
      </p:sp>
      <p:sp>
        <p:nvSpPr>
          <p:cNvPr id="4" name="Text 2"/>
          <p:cNvSpPr/>
          <p:nvPr/>
        </p:nvSpPr>
        <p:spPr>
          <a:xfrm>
            <a:off x="411480" y="109728"/>
            <a:ext cx="77724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5" name="Text 3"/>
          <p:cNvSpPr/>
          <p:nvPr/>
        </p:nvSpPr>
        <p:spPr>
          <a:xfrm>
            <a:off x="411480" y="658368"/>
            <a:ext cx="77724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CSU Global Library and government sources — APA 7th Edition</a:t>
            </a:r>
            <a:endParaRPr lang="en-US" sz="1200" dirty="0"/>
          </a:p>
        </p:txBody>
      </p:sp>
      <p:sp>
        <p:nvSpPr>
          <p:cNvPr id="6" name="Text 4"/>
          <p:cNvSpPr/>
          <p:nvPr/>
        </p:nvSpPr>
        <p:spPr>
          <a:xfrm>
            <a:off x="365760" y="1115568"/>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1.  Canada, Department of Finance. (2025, June 19). Countermeasures in response to unjustified tariffs on Canadian steel and aluminum products. Government of Canada. https://www.canada.ca/en/department-finance/programs/international-trade-finance-policy/measures-steel-aluminum-businesses/</a:t>
            </a:r>
            <a:endParaRPr lang="en-US" sz="850" dirty="0"/>
          </a:p>
        </p:txBody>
      </p:sp>
      <p:sp>
        <p:nvSpPr>
          <p:cNvPr id="7" name="Shape 5"/>
          <p:cNvSpPr/>
          <p:nvPr/>
        </p:nvSpPr>
        <p:spPr>
          <a:xfrm>
            <a:off x="365760" y="1508760"/>
            <a:ext cx="8412480" cy="0"/>
          </a:xfrm>
          <a:prstGeom prst="line">
            <a:avLst/>
          </a:prstGeom>
          <a:noFill/>
          <a:ln w="6350">
            <a:solidFill>
              <a:srgbClr val="E4ECF5"/>
            </a:solidFill>
            <a:prstDash val="solid"/>
          </a:ln>
        </p:spPr>
      </p:sp>
      <p:sp>
        <p:nvSpPr>
          <p:cNvPr id="8" name="Text 6"/>
          <p:cNvSpPr/>
          <p:nvPr/>
        </p:nvSpPr>
        <p:spPr>
          <a:xfrm>
            <a:off x="365760" y="1531620"/>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2.  Canada, Department of Finance. (2025, December 22). Complete list of U.S. products subject to counter-tariffs. Government of Canada. https://www.canada.ca/en/department-finance/programs/international-trade-finance-policy/canadas-response-us-tariffs/</a:t>
            </a:r>
            <a:endParaRPr lang="en-US" sz="850" dirty="0"/>
          </a:p>
        </p:txBody>
      </p:sp>
      <p:sp>
        <p:nvSpPr>
          <p:cNvPr id="9" name="Shape 7"/>
          <p:cNvSpPr/>
          <p:nvPr/>
        </p:nvSpPr>
        <p:spPr>
          <a:xfrm>
            <a:off x="365760" y="1924812"/>
            <a:ext cx="8412480" cy="0"/>
          </a:xfrm>
          <a:prstGeom prst="line">
            <a:avLst/>
          </a:prstGeom>
          <a:noFill/>
          <a:ln w="6350">
            <a:solidFill>
              <a:srgbClr val="E4ECF5"/>
            </a:solidFill>
            <a:prstDash val="solid"/>
          </a:ln>
        </p:spPr>
      </p:sp>
      <p:sp>
        <p:nvSpPr>
          <p:cNvPr id="10" name="Text 8"/>
          <p:cNvSpPr/>
          <p:nvPr/>
        </p:nvSpPr>
        <p:spPr>
          <a:xfrm>
            <a:off x="365760" y="1947672"/>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3.  Government of Canada. (2026). Canadian international merchandise trade [Data set]. Statistics Canada Trade Data Online. https://www150.statcan.gc.ca/n1/pub/71-607-x/2018011/tdo-dce-eng.htm</a:t>
            </a:r>
            <a:endParaRPr lang="en-US" sz="850" dirty="0"/>
          </a:p>
        </p:txBody>
      </p:sp>
      <p:sp>
        <p:nvSpPr>
          <p:cNvPr id="11" name="Shape 9"/>
          <p:cNvSpPr/>
          <p:nvPr/>
        </p:nvSpPr>
        <p:spPr>
          <a:xfrm>
            <a:off x="365760" y="2340864"/>
            <a:ext cx="8412480" cy="0"/>
          </a:xfrm>
          <a:prstGeom prst="line">
            <a:avLst/>
          </a:prstGeom>
          <a:noFill/>
          <a:ln w="6350">
            <a:solidFill>
              <a:srgbClr val="E4ECF5"/>
            </a:solidFill>
            <a:prstDash val="solid"/>
          </a:ln>
        </p:spPr>
      </p:sp>
      <p:sp>
        <p:nvSpPr>
          <p:cNvPr id="12" name="Text 10"/>
          <p:cNvSpPr/>
          <p:nvPr/>
        </p:nvSpPr>
        <p:spPr>
          <a:xfrm>
            <a:off x="365760" y="2363724"/>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4.  Liu, Y. (2026). A literature review of the U.S.-Canadian trade relations and scenarios on impacts of tariff changes proposed. Academic Journal of Management and Social Sciences, 14(2).</a:t>
            </a:r>
            <a:endParaRPr lang="en-US" sz="850" dirty="0"/>
          </a:p>
        </p:txBody>
      </p:sp>
      <p:sp>
        <p:nvSpPr>
          <p:cNvPr id="13" name="Shape 11"/>
          <p:cNvSpPr/>
          <p:nvPr/>
        </p:nvSpPr>
        <p:spPr>
          <a:xfrm>
            <a:off x="365760" y="2756916"/>
            <a:ext cx="8412480" cy="0"/>
          </a:xfrm>
          <a:prstGeom prst="line">
            <a:avLst/>
          </a:prstGeom>
          <a:noFill/>
          <a:ln w="6350">
            <a:solidFill>
              <a:srgbClr val="E4ECF5"/>
            </a:solidFill>
            <a:prstDash val="solid"/>
          </a:ln>
        </p:spPr>
      </p:sp>
      <p:sp>
        <p:nvSpPr>
          <p:cNvPr id="14" name="Text 12"/>
          <p:cNvSpPr/>
          <p:nvPr/>
        </p:nvSpPr>
        <p:spPr>
          <a:xfrm>
            <a:off x="365760" y="2779776"/>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5.  May, B. (2025). The global implications of more extreme US tariffs. Economic Outlook.</a:t>
            </a:r>
            <a:endParaRPr lang="en-US" sz="850" dirty="0"/>
          </a:p>
        </p:txBody>
      </p:sp>
      <p:sp>
        <p:nvSpPr>
          <p:cNvPr id="15" name="Shape 13"/>
          <p:cNvSpPr/>
          <p:nvPr/>
        </p:nvSpPr>
        <p:spPr>
          <a:xfrm>
            <a:off x="365760" y="3172968"/>
            <a:ext cx="8412480" cy="0"/>
          </a:xfrm>
          <a:prstGeom prst="line">
            <a:avLst/>
          </a:prstGeom>
          <a:noFill/>
          <a:ln w="6350">
            <a:solidFill>
              <a:srgbClr val="E4ECF5"/>
            </a:solidFill>
            <a:prstDash val="solid"/>
          </a:ln>
        </p:spPr>
      </p:sp>
      <p:sp>
        <p:nvSpPr>
          <p:cNvPr id="16" name="Text 14"/>
          <p:cNvSpPr/>
          <p:nvPr/>
        </p:nvSpPr>
        <p:spPr>
          <a:xfrm>
            <a:off x="365760" y="3195828"/>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6.  Ruiz Estrada, M. A., Koutronas, E., &amp; Quali, H. (2025, March). The tariffs war between U.S. vs. Canada: Winners and losers [Preprint]. SSRN.</a:t>
            </a:r>
            <a:endParaRPr lang="en-US" sz="850" dirty="0"/>
          </a:p>
        </p:txBody>
      </p:sp>
      <p:sp>
        <p:nvSpPr>
          <p:cNvPr id="17" name="Shape 15"/>
          <p:cNvSpPr/>
          <p:nvPr/>
        </p:nvSpPr>
        <p:spPr>
          <a:xfrm>
            <a:off x="365760" y="3589020"/>
            <a:ext cx="8412480" cy="0"/>
          </a:xfrm>
          <a:prstGeom prst="line">
            <a:avLst/>
          </a:prstGeom>
          <a:noFill/>
          <a:ln w="6350">
            <a:solidFill>
              <a:srgbClr val="E4ECF5"/>
            </a:solidFill>
            <a:prstDash val="solid"/>
          </a:ln>
        </p:spPr>
      </p:sp>
      <p:sp>
        <p:nvSpPr>
          <p:cNvPr id="18" name="Text 16"/>
          <p:cNvSpPr/>
          <p:nvPr/>
        </p:nvSpPr>
        <p:spPr>
          <a:xfrm>
            <a:off x="365760" y="3611880"/>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7.  Towe, C. (2025, July 30). The impact of the trade war on Canada. Econofact. https://econofact.org/the-impact-of-the-trade-war-on-canada</a:t>
            </a:r>
            <a:endParaRPr lang="en-US" sz="850" dirty="0"/>
          </a:p>
        </p:txBody>
      </p:sp>
      <p:sp>
        <p:nvSpPr>
          <p:cNvPr id="19" name="Shape 17"/>
          <p:cNvSpPr/>
          <p:nvPr/>
        </p:nvSpPr>
        <p:spPr>
          <a:xfrm>
            <a:off x="365760" y="4005072"/>
            <a:ext cx="8412480" cy="0"/>
          </a:xfrm>
          <a:prstGeom prst="line">
            <a:avLst/>
          </a:prstGeom>
          <a:noFill/>
          <a:ln w="6350">
            <a:solidFill>
              <a:srgbClr val="E4ECF5"/>
            </a:solidFill>
            <a:prstDash val="solid"/>
          </a:ln>
        </p:spPr>
      </p:sp>
      <p:sp>
        <p:nvSpPr>
          <p:cNvPr id="20" name="Text 18"/>
          <p:cNvSpPr/>
          <p:nvPr/>
        </p:nvSpPr>
        <p:spPr>
          <a:xfrm>
            <a:off x="365760" y="4027932"/>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8.  Trefler, D. (2001, May). The long and short of the Canada-U.S. Free Trade Agreement (NBER Working Paper No. 8293). National Bureau of Economic Research.</a:t>
            </a:r>
            <a:endParaRPr lang="en-US" sz="850" dirty="0"/>
          </a:p>
        </p:txBody>
      </p:sp>
      <p:sp>
        <p:nvSpPr>
          <p:cNvPr id="21" name="Shape 19"/>
          <p:cNvSpPr/>
          <p:nvPr/>
        </p:nvSpPr>
        <p:spPr>
          <a:xfrm>
            <a:off x="365760" y="4421124"/>
            <a:ext cx="8412480" cy="0"/>
          </a:xfrm>
          <a:prstGeom prst="line">
            <a:avLst/>
          </a:prstGeom>
          <a:noFill/>
          <a:ln w="6350">
            <a:solidFill>
              <a:srgbClr val="E4ECF5"/>
            </a:solidFill>
            <a:prstDash val="solid"/>
          </a:ln>
        </p:spPr>
      </p:sp>
      <p:sp>
        <p:nvSpPr>
          <p:cNvPr id="22" name="Text 20"/>
          <p:cNvSpPr/>
          <p:nvPr/>
        </p:nvSpPr>
        <p:spPr>
          <a:xfrm>
            <a:off x="365760" y="4443984"/>
            <a:ext cx="8412480" cy="384048"/>
          </a:xfrm>
          <a:prstGeom prst="rect">
            <a:avLst/>
          </a:prstGeom>
          <a:noFill/>
          <a:ln/>
        </p:spPr>
        <p:txBody>
          <a:bodyPr wrap="square" lIns="0" tIns="0" rIns="0" bIns="0" rtlCol="0" anchor="ctr"/>
          <a:lstStyle/>
          <a:p>
            <a:pPr indent="0" marL="0">
              <a:buNone/>
            </a:pPr>
            <a:r>
              <a:rPr lang="en-US" sz="850" dirty="0">
                <a:solidFill>
                  <a:srgbClr val="1A2547"/>
                </a:solidFill>
                <a:latin typeface="Calibri" pitchFamily="34" charset="0"/>
                <a:ea typeface="Calibri" pitchFamily="34" charset="-122"/>
                <a:cs typeface="Calibri" pitchFamily="34" charset="-120"/>
              </a:rPr>
              <a:t>9.  U.S. International Trade Commission. (2026). U.S. merchandise trade statistics [Data set]. USITC DataWeb. https://dataweb.usitc.gov/</a:t>
            </a:r>
            <a:endParaRPr lang="en-US" sz="850" dirty="0"/>
          </a:p>
        </p:txBody>
      </p:sp>
      <p:sp>
        <p:nvSpPr>
          <p:cNvPr id="23" name="Text 21"/>
          <p:cNvSpPr/>
          <p:nvPr/>
        </p:nvSpPr>
        <p:spPr>
          <a:xfrm>
            <a:off x="274320" y="4892040"/>
            <a:ext cx="8595360" cy="201168"/>
          </a:xfrm>
          <a:prstGeom prst="rect">
            <a:avLst/>
          </a:prstGeom>
          <a:noFill/>
          <a:ln/>
        </p:spPr>
        <p:txBody>
          <a:bodyPr wrap="square" lIns="0" tIns="0" rIns="0" bIns="0" rtlCol="0" anchor="ctr"/>
          <a:lstStyle/>
          <a:p>
            <a:pPr indent="0" marL="0">
              <a:buNone/>
            </a:pPr>
            <a:r>
              <a:rPr lang="en-US" sz="900" dirty="0">
                <a:solidFill>
                  <a:srgbClr val="5A6A8A"/>
                </a:solidFill>
                <a:latin typeface="Calibri" pitchFamily="34" charset="0"/>
                <a:ea typeface="Calibri" pitchFamily="34" charset="-122"/>
                <a:cs typeface="Calibri" pitchFamily="34" charset="-120"/>
              </a:rPr>
              <a:t>MIS581 Capstone | Alexander Vollen | CSU Global | April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U.S.-Canada Tariff Impacts on Bilateral Trade Flows</dc:title>
  <dc:subject>PptxGenJS Presentation</dc:subject>
  <dc:creator>Alexander Vollen</dc:creator>
  <cp:lastModifiedBy>Alexander Vollen</cp:lastModifiedBy>
  <cp:revision>1</cp:revision>
  <dcterms:created xsi:type="dcterms:W3CDTF">2026-04-04T16:18:50Z</dcterms:created>
  <dcterms:modified xsi:type="dcterms:W3CDTF">2026-04-04T16:18:50Z</dcterms:modified>
</cp:coreProperties>
</file>